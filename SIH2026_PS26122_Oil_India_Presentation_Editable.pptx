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 u="none">
                <a:solidFill>
                  <a:srgbClr val="0B2545"/>
                </a:solidFill>
                <a:latin typeface="Segoe UI"/>
              </a:rPr>
              <a:t>SMART INDIA HACKATHON 2026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228600"/>
            <a:ext cx="1645920" cy="716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6583680" cy="1188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00" b="1" u="none">
                <a:solidFill>
                  <a:srgbClr val="C25E00"/>
                </a:solidFill>
                <a:latin typeface="Segoe UI"/>
              </a:rPr>
              <a:t>PlanBridge AI</a:t>
            </a:r>
          </a:p>
          <a:p>
            <a:pPr>
              <a:spcBef>
                <a:spcPts val="300"/>
              </a:spcBef>
            </a:pPr>
            <a:r>
              <a:rPr sz="1600" b="1" u="none">
                <a:solidFill>
                  <a:srgbClr val="0B2545"/>
                </a:solidFill>
                <a:latin typeface="Segoe UI"/>
              </a:rPr>
              <a:t>Intelligent Data Capture &amp; Schedule-Linking Layer</a:t>
            </a:r>
          </a:p>
          <a:p>
            <a:pPr>
              <a:spcBef>
                <a:spcPts val="200"/>
              </a:spcBef>
            </a:pPr>
            <a:r>
              <a:rPr sz="1200" b="0" u="none">
                <a:solidFill>
                  <a:srgbClr val="64748B"/>
                </a:solidFill>
                <a:latin typeface="Segoe UI"/>
              </a:rPr>
              <a:t>Real-Time Actual Progress Tracking | Oil India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Problem Statement ID: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26122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Problem Statement Title: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Intelligent Data Capture &amp; Schedule-Linking Layer for Infrastructure Project Management — Real-Time Actual Progress Tracking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Organization: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Oil India Limited (Ministry of Petroleum &amp; Natural Gas, GoI)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Theme: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Smart Automation / Software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PS Category: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Software (Enterprise PMIS &amp; AI Layer)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Team ID: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SIH2026-T1646</a:t>
            </a:r>
          </a:p>
          <a:p>
            <a:pPr>
              <a:spcAft>
                <a:spcPts val="600"/>
              </a:spcAft>
            </a:pPr>
            <a:r>
              <a:rPr sz="1200" b="1" u="none">
                <a:solidFill>
                  <a:srgbClr val="C25E00"/>
                </a:solidFill>
                <a:latin typeface="Segoe UI"/>
              </a:rPr>
              <a:t>•  </a:t>
            </a:r>
            <a:r>
              <a:rPr sz="1200" b="1" u="none">
                <a:solidFill>
                  <a:srgbClr val="0B2545"/>
                </a:solidFill>
                <a:latin typeface="Segoe UI"/>
              </a:rPr>
              <a:t>Team Name: </a:t>
            </a:r>
            <a:r>
              <a:rPr sz="1200" b="0" u="none">
                <a:solidFill>
                  <a:srgbClr val="1E293B"/>
                </a:solidFill>
                <a:latin typeface="Segoe UI"/>
              </a:rPr>
              <a:t>#TheAnanta Innovators</a:t>
            </a:r>
          </a:p>
        </p:txBody>
      </p:sp>
      <p:pic>
        <p:nvPicPr>
          <p:cNvPr id="6" name="Picture 5" descr="slide1_hero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05840"/>
            <a:ext cx="4389120" cy="63063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916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u="none">
                <a:solidFill>
                  <a:srgbClr val="C25E00"/>
                </a:solidFill>
                <a:latin typeface="Segoe UI"/>
              </a:rPr>
              <a:t>TEAM #1646
</a:t>
            </a:r>
            <a:r>
              <a:rPr sz="1000" b="1" u="none">
                <a:solidFill>
                  <a:srgbClr val="0B2545"/>
                </a:solidFill>
                <a:latin typeface="Segoe UI"/>
              </a:rPr>
              <a:t>#TheAnanta Innovators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164592"/>
            <a:ext cx="768096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 u="none">
                <a:solidFill>
                  <a:srgbClr val="0B2545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566928"/>
            <a:ext cx="7680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 u="none">
                <a:solidFill>
                  <a:srgbClr val="C25E00"/>
                </a:solidFill>
                <a:latin typeface="Segoe UI"/>
              </a:rPr>
              <a:t>PlanBridge AI</a:t>
            </a:r>
            <a:r>
              <a:rPr sz="1050" b="0" u="none">
                <a:solidFill>
                  <a:srgbClr val="64748B"/>
                </a:solidFill>
                <a:latin typeface="Segoe UI"/>
              </a:rPr>
              <a:t> — Oil India Limited PMIS Initiative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28016"/>
            <a:ext cx="1600200" cy="696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65760"/>
          <a:lstStyle/>
          <a:p>
            <a:pPr algn="r"/>
            <a:r>
              <a:rPr sz="1200" b="1" u="none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4663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 u="none">
                <a:solidFill>
                  <a:srgbClr val="C25E00"/>
                </a:solidFill>
                <a:latin typeface="Segoe UI"/>
              </a:rPr>
              <a:t>Digging Deep</a:t>
            </a:r>
          </a:p>
          <a:p>
            <a:pPr>
              <a:spcBef>
                <a:spcPts val="600"/>
              </a:spcBef>
            </a:pPr>
            <a:r>
              <a:rPr sz="1050" b="0" u="none">
                <a:solidFill>
                  <a:srgbClr val="1E293B"/>
                </a:solidFill>
                <a:latin typeface="Segoe UI"/>
              </a:rPr>
              <a:t>The current infrastructure project tracking at </a:t>
            </a:r>
            <a:r>
              <a:rPr sz="1050" b="1" u="none">
                <a:solidFill>
                  <a:srgbClr val="0B2545"/>
                </a:solidFill>
                <a:latin typeface="Segoe UI"/>
              </a:rPr>
              <a:t>Oil India Limited</a:t>
            </a:r>
            <a:r>
              <a:rPr sz="1050" b="0" u="none">
                <a:solidFill>
                  <a:srgbClr val="1E293B"/>
                </a:solidFill>
                <a:latin typeface="Segoe UI"/>
              </a:rPr>
              <a:t> struggles with manual collation of </a:t>
            </a:r>
            <a:r>
              <a:rPr sz="1050" b="1" u="none">
                <a:solidFill>
                  <a:srgbClr val="C25E00"/>
                </a:solidFill>
                <a:latin typeface="Segoe UI"/>
              </a:rPr>
              <a:t>over 150+ weekly progress reports</a:t>
            </a:r>
            <a:r>
              <a:rPr sz="1050" b="0" u="none">
                <a:solidFill>
                  <a:srgbClr val="1E293B"/>
                </a:solidFill>
                <a:latin typeface="Segoe UI"/>
              </a:rPr>
              <a:t>, each spanning hundreds of contractor diary rows and Excel fields. This paper/spreadsheet-based approach causes a </a:t>
            </a:r>
            <a:r>
              <a:rPr sz="1050" b="1" u="none">
                <a:solidFill>
                  <a:srgbClr val="C25E00"/>
                </a:solidFill>
                <a:latin typeface="Segoe UI"/>
              </a:rPr>
              <a:t>10–14 day schedule status lag</a:t>
            </a:r>
            <a:r>
              <a:rPr sz="1050" b="0" u="none">
                <a:solidFill>
                  <a:srgbClr val="1E293B"/>
                </a:solidFill>
                <a:latin typeface="Segoe UI"/>
              </a:rPr>
              <a:t>, high error rates, and inter-discipline blindness.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4663440" cy="2788920"/>
          </a:xfrm>
          <a:prstGeom prst="roundRect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600" b="1" u="none">
                <a:solidFill>
                  <a:srgbClr val="FFFFFF"/>
                </a:solidFill>
                <a:latin typeface="Segoe UI"/>
              </a:rPr>
              <a:t>Proposed Solution</a:t>
            </a:r>
          </a:p>
          <a:p>
            <a:pPr>
              <a:spcBef>
                <a:spcPts val="600"/>
              </a:spcBef>
            </a:pPr>
            <a:r>
              <a:rPr sz="1050" b="0" u="none">
                <a:solidFill>
                  <a:srgbClr val="FFFFFF"/>
                </a:solidFill>
                <a:latin typeface="Segoe UI"/>
              </a:rPr>
              <a:t>PlanBridge AI is an intelligent </a:t>
            </a:r>
            <a:r>
              <a:rPr sz="1050" b="1" u="none">
                <a:solidFill>
                  <a:srgbClr val="FFFFFF"/>
                </a:solidFill>
                <a:latin typeface="Segoe UI"/>
              </a:rPr>
              <a:t>data capture and schedule-linking layer</a:t>
            </a:r>
            <a:r>
              <a:rPr sz="1050" b="0" u="none">
                <a:solidFill>
                  <a:srgbClr val="FFFFFF"/>
                </a:solidFill>
                <a:latin typeface="Segoe UI"/>
              </a:rPr>
              <a:t> that autonomously bridges raw, unstructured field reporting with </a:t>
            </a:r>
            <a:r>
              <a:rPr sz="1050" b="1" u="none">
                <a:solidFill>
                  <a:srgbClr val="FFFFFF"/>
                </a:solidFill>
                <a:latin typeface="Segoe UI"/>
              </a:rPr>
              <a:t>enterprise master schedules (Primavera P6 / MS Project WBS)</a:t>
            </a:r>
            <a:r>
              <a:rPr sz="1050" b="0" u="none">
                <a:solidFill>
                  <a:srgbClr val="FFFFFF"/>
                </a:solidFill>
                <a:latin typeface="Segoe UI"/>
              </a:rPr>
              <a:t>. Featuring multi-modal ingestion, calibrated hybrid semantic ranking (99ms latency), and </a:t>
            </a:r>
            <a:r>
              <a:rPr sz="1050" b="1" u="none">
                <a:solidFill>
                  <a:srgbClr val="FFFFFF"/>
                </a:solidFill>
                <a:latin typeface="Segoe UI"/>
              </a:rPr>
              <a:t>cross-discipline contradiction detection</a:t>
            </a:r>
            <a:r>
              <a:rPr sz="1050" b="0" u="none">
                <a:solidFill>
                  <a:srgbClr val="FFFFFF"/>
                </a:solidFill>
                <a:latin typeface="Segoe UI"/>
              </a:rPr>
              <a:t> with full auditability.</a:t>
            </a:r>
          </a:p>
        </p:txBody>
      </p:sp>
      <p:pic>
        <p:nvPicPr>
          <p:cNvPr id="9" name="Picture 8" descr="slide2_engin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965960"/>
            <a:ext cx="2057400" cy="14328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51560"/>
            <a:ext cx="1463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2000" b="1" u="none">
                <a:solidFill>
                  <a:srgbClr val="C25E00"/>
                </a:solidFill>
                <a:latin typeface="Segoe UI"/>
              </a:rPr>
              <a:t>14.5D¹</a:t>
            </a:r>
          </a:p>
          <a:p>
            <a:pPr algn="ctr">
              <a:spcBef>
                <a:spcPts val="200"/>
              </a:spcBef>
            </a:pPr>
            <a:r>
              <a:rPr sz="950" b="1" u="none">
                <a:solidFill>
                  <a:srgbClr val="0B2545"/>
                </a:solidFill>
                <a:latin typeface="Segoe UI"/>
              </a:rPr>
              <a:t>Schedule Status Lag</a:t>
            </a:r>
          </a:p>
          <a:p>
            <a:pPr algn="ctr">
              <a:spcBef>
                <a:spcPts val="200"/>
              </a:spcBef>
            </a:pPr>
            <a:r>
              <a:rPr sz="750" b="0" u="none">
                <a:solidFill>
                  <a:srgbClr val="64748B"/>
                </a:solidFill>
                <a:latin typeface="Segoe UI"/>
              </a:rPr>
              <a:t>Reduced to &lt;100ms real-time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051560"/>
            <a:ext cx="1463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2000" b="1" u="none">
                <a:solidFill>
                  <a:srgbClr val="C25E00"/>
                </a:solidFill>
                <a:latin typeface="Segoe UI"/>
              </a:rPr>
              <a:t>₹1,250cr²</a:t>
            </a:r>
          </a:p>
          <a:p>
            <a:pPr algn="ctr">
              <a:spcBef>
                <a:spcPts val="200"/>
              </a:spcBef>
            </a:pPr>
            <a:r>
              <a:rPr sz="950" b="1" u="none">
                <a:solidFill>
                  <a:srgbClr val="0B2545"/>
                </a:solidFill>
                <a:latin typeface="Segoe UI"/>
              </a:rPr>
              <a:t>Active Capex Portfolio</a:t>
            </a:r>
          </a:p>
          <a:p>
            <a:pPr algn="ctr">
              <a:spcBef>
                <a:spcPts val="200"/>
              </a:spcBef>
            </a:pPr>
            <a:r>
              <a:rPr sz="750" b="0" u="none">
                <a:solidFill>
                  <a:srgbClr val="64748B"/>
                </a:solidFill>
                <a:latin typeface="Segoe UI"/>
              </a:rPr>
              <a:t>Protected from dispute standstills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1051560"/>
            <a:ext cx="1463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2000" b="1" u="none">
                <a:solidFill>
                  <a:srgbClr val="C25E00"/>
                </a:solidFill>
                <a:latin typeface="Segoe UI"/>
              </a:rPr>
              <a:t>73%³</a:t>
            </a:r>
          </a:p>
          <a:p>
            <a:pPr algn="ctr">
              <a:spcBef>
                <a:spcPts val="200"/>
              </a:spcBef>
            </a:pPr>
            <a:r>
              <a:rPr sz="950" b="1" u="none">
                <a:solidFill>
                  <a:srgbClr val="0B2545"/>
                </a:solidFill>
                <a:latin typeface="Segoe UI"/>
              </a:rPr>
              <a:t>Disputed Claims</a:t>
            </a:r>
          </a:p>
          <a:p>
            <a:pPr algn="ctr">
              <a:spcBef>
                <a:spcPts val="200"/>
              </a:spcBef>
            </a:pPr>
            <a:r>
              <a:rPr sz="750" b="0" u="none">
                <a:solidFill>
                  <a:srgbClr val="64748B"/>
                </a:solidFill>
                <a:latin typeface="Segoe UI"/>
              </a:rPr>
              <a:t>Resolved via immutable audit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7432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 u="none">
                <a:solidFill>
                  <a:srgbClr val="0B2545"/>
                </a:solidFill>
                <a:latin typeface="Segoe UI"/>
              </a:rPr>
              <a:t>— BENEFITS &amp; PLATFORM CAPABILITIES —</a:t>
            </a:r>
          </a:p>
        </p:txBody>
      </p:sp>
      <p:sp>
        <p:nvSpPr>
          <p:cNvPr id="14" name="Oval 13"/>
          <p:cNvSpPr/>
          <p:nvPr/>
        </p:nvSpPr>
        <p:spPr>
          <a:xfrm>
            <a:off x="7708392" y="315468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81304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Auto WBS Link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Semantic Vector AI</a:t>
            </a:r>
          </a:p>
        </p:txBody>
      </p:sp>
      <p:sp>
        <p:nvSpPr>
          <p:cNvPr id="16" name="Oval 15"/>
          <p:cNvSpPr/>
          <p:nvPr/>
        </p:nvSpPr>
        <p:spPr>
          <a:xfrm>
            <a:off x="8851392" y="315468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81304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Contradiction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Cross-Discipline Check</a:t>
            </a:r>
          </a:p>
        </p:txBody>
      </p:sp>
      <p:sp>
        <p:nvSpPr>
          <p:cNvPr id="18" name="Oval 17"/>
          <p:cNvSpPr/>
          <p:nvPr/>
        </p:nvSpPr>
        <p:spPr>
          <a:xfrm>
            <a:off x="9994392" y="315468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81304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Zero-Lag Sync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&lt;100ms Inference</a:t>
            </a:r>
          </a:p>
        </p:txBody>
      </p:sp>
      <p:sp>
        <p:nvSpPr>
          <p:cNvPr id="20" name="Oval 19"/>
          <p:cNvSpPr/>
          <p:nvPr/>
        </p:nvSpPr>
        <p:spPr>
          <a:xfrm>
            <a:off x="11137392" y="315468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381304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Time Agent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Field Voice/Chat Log</a:t>
            </a:r>
          </a:p>
        </p:txBody>
      </p:sp>
      <p:sp>
        <p:nvSpPr>
          <p:cNvPr id="22" name="Oval 21"/>
          <p:cNvSpPr/>
          <p:nvPr/>
        </p:nvSpPr>
        <p:spPr>
          <a:xfrm>
            <a:off x="7708392" y="470916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36752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Multi-Modal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Text, Excel, WhatsApp</a:t>
            </a:r>
          </a:p>
        </p:txBody>
      </p:sp>
      <p:sp>
        <p:nvSpPr>
          <p:cNvPr id="24" name="Oval 23"/>
          <p:cNvSpPr/>
          <p:nvPr/>
        </p:nvSpPr>
        <p:spPr>
          <a:xfrm>
            <a:off x="8851392" y="470916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36752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P6 / PMIS Sync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Primavera XML/XER</a:t>
            </a:r>
          </a:p>
        </p:txBody>
      </p:sp>
      <p:sp>
        <p:nvSpPr>
          <p:cNvPr id="26" name="Oval 25"/>
          <p:cNvSpPr/>
          <p:nvPr/>
        </p:nvSpPr>
        <p:spPr>
          <a:xfrm>
            <a:off x="9994392" y="470916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536752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Audit Trail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Tamper-Evident Ledger</a:t>
            </a:r>
          </a:p>
        </p:txBody>
      </p:sp>
      <p:sp>
        <p:nvSpPr>
          <p:cNvPr id="28" name="Oval 27"/>
          <p:cNvSpPr/>
          <p:nvPr/>
        </p:nvSpPr>
        <p:spPr>
          <a:xfrm>
            <a:off x="11137392" y="4709160"/>
            <a:ext cx="621792" cy="621792"/>
          </a:xfrm>
          <a:prstGeom prst="ellipse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 u="none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5367528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u="none">
                <a:solidFill>
                  <a:srgbClr val="1E293B"/>
                </a:solidFill>
                <a:latin typeface="Segoe UI"/>
              </a:rPr>
              <a:t>Review Queue</a:t>
            </a:r>
          </a:p>
          <a:p>
            <a:pPr algn="ctr">
              <a:spcBef>
                <a:spcPts val="100"/>
              </a:spcBef>
            </a:pPr>
            <a:r>
              <a:rPr sz="800" b="0" u="none">
                <a:solidFill>
                  <a:srgbClr val="64748B"/>
                </a:solidFill>
                <a:latin typeface="Segoe UI"/>
              </a:rPr>
              <a:t>Human-in-the-Loop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Technical_Appro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916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u="none">
                <a:solidFill>
                  <a:srgbClr val="C25E00"/>
                </a:solidFill>
                <a:latin typeface="Segoe UI"/>
              </a:rPr>
              <a:t>TEAM #1646
</a:t>
            </a:r>
            <a:r>
              <a:rPr sz="1000" b="1" u="none">
                <a:solidFill>
                  <a:srgbClr val="0B2545"/>
                </a:solidFill>
                <a:latin typeface="Segoe UI"/>
              </a:rPr>
              <a:t>#TheAnanta Innovators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164592"/>
            <a:ext cx="768096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 u="none">
                <a:solidFill>
                  <a:srgbClr val="0B2545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566928"/>
            <a:ext cx="7680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 u="none">
                <a:solidFill>
                  <a:srgbClr val="C25E00"/>
                </a:solidFill>
                <a:latin typeface="Segoe UI"/>
              </a:rPr>
              <a:t>PlanBridge AI</a:t>
            </a:r>
            <a:r>
              <a:rPr sz="1050" b="0" u="none">
                <a:solidFill>
                  <a:srgbClr val="64748B"/>
                </a:solidFill>
                <a:latin typeface="Segoe UI"/>
              </a:rPr>
              <a:t> — the ananta initiative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28016"/>
            <a:ext cx="1600200" cy="696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65760"/>
          <a:lstStyle/>
          <a:p>
            <a:pPr algn="r"/>
            <a:r>
              <a:rPr sz="1200" b="1" u="none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486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300" b="1" u="none">
                <a:solidFill>
                  <a:srgbClr val="C25E00"/>
                </a:solidFill>
                <a:latin typeface="Segoe UI"/>
              </a:rPr>
              <a:t>Technological Feasibility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Dual-mode local sentence-transformers (99ms offline) paired with cloud LLM API fallback. Zero GPU cluster dependency, robust SQLite/PostgreSQL schema for 100+ projects and 1000+ WBS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486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300" b="1" u="none">
                <a:solidFill>
                  <a:srgbClr val="C25E00"/>
                </a:solidFill>
                <a:latin typeface="Segoe UI"/>
              </a:rPr>
              <a:t>Operational Efficiency | Reduction of Man Hours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Centralized, automated progress reconciliation with real-time tracking and alerts. Eliminates manual weekly collation of 150+ contractor sheets, saving 32 planner-hours per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86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300" b="1" u="none">
                <a:solidFill>
                  <a:srgbClr val="C25E00"/>
                </a:solidFill>
                <a:latin typeface="Segoe UI"/>
              </a:rPr>
              <a:t>Cost-Effectiveness &amp; ROI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Micro-cost inference ($0.00006/report on Gemini, $0 for offline vector matcher). Offsets deployment costs, preventing contractor dispute litigation and saving ₹4.2 Cr annually across OIL capex.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4864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300" b="1" u="none">
                <a:solidFill>
                  <a:srgbClr val="C25E00"/>
                </a:solidFill>
                <a:latin typeface="Segoe UI"/>
              </a:rPr>
              <a:t>User Adoption and Accessibility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Zero-training barrier for site foremen: natural language input via mobile Time Agent / WhatsApp. Planners retain 100% control via 1-click Kanban review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39"/>
            <a:ext cx="54864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300" b="1" u="none">
                <a:solidFill>
                  <a:srgbClr val="C25E00"/>
                </a:solidFill>
                <a:latin typeface="Segoe UI"/>
              </a:rPr>
              <a:t>Compliance and Reporting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Automated, customizable reporting system adhering to MoPNG, CVC, and CAG PSU guidelines, with tamper-evident audit trails and Primavera P6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80"/>
            <a:ext cx="1298448" cy="89611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 u="none">
                <a:solidFill>
                  <a:srgbClr val="C25E00"/>
                </a:solidFill>
                <a:latin typeface="Segoe UI"/>
              </a:rPr>
              <a:t>Tier 1: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C25E00"/>
                </a:solidFill>
                <a:latin typeface="Segoe UI"/>
              </a:rPr>
              <a:t>Admin Users (OIL Project Controls)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440680"/>
            <a:ext cx="1298448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 u="none">
                <a:solidFill>
                  <a:srgbClr val="0B2545"/>
                </a:solidFill>
                <a:latin typeface="Segoe UI"/>
              </a:rPr>
              <a:t>Tier 2: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0B2545"/>
                </a:solidFill>
                <a:latin typeface="Segoe UI"/>
              </a:rPr>
              <a:t>EPC Contractors (L&amp;T, EIL, Punj Lloyd)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5440680"/>
            <a:ext cx="1298448" cy="89611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 u="none">
                <a:solidFill>
                  <a:srgbClr val="C25E00"/>
                </a:solidFill>
                <a:latin typeface="Segoe UI"/>
              </a:rPr>
              <a:t>Tier 3: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C25E00"/>
                </a:solidFill>
                <a:latin typeface="Segoe UI"/>
              </a:rPr>
              <a:t>Site Supervisors (Civil/Piping/E&amp;I)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440680"/>
            <a:ext cx="1298448" cy="896112"/>
          </a:xfrm>
          <a:prstGeom prst="roundRect">
            <a:avLst/>
          </a:prstGeom>
          <a:solidFill>
            <a:srgbClr val="C25E0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 u="none">
                <a:solidFill>
                  <a:srgbClr val="FFFFFF"/>
                </a:solidFill>
                <a:latin typeface="Segoe UI"/>
              </a:rPr>
              <a:t>Tier 4:</a:t>
            </a:r>
          </a:p>
          <a:p>
            <a:pPr>
              <a:spcBef>
                <a:spcPts val="200"/>
              </a:spcBef>
            </a:pPr>
            <a:r>
              <a:rPr sz="850" b="1" u="none">
                <a:solidFill>
                  <a:srgbClr val="FFFFFF"/>
                </a:solidFill>
                <a:latin typeface="Segoe UI"/>
              </a:rPr>
              <a:t>Statutory Auditors &amp; Reviewers (MoPNG, CAG)</a:t>
            </a:r>
          </a:p>
        </p:txBody>
      </p:sp>
      <p:pic>
        <p:nvPicPr>
          <p:cNvPr id="16" name="Picture 15" descr="slide4_market_siz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86200"/>
            <a:ext cx="5394960" cy="2806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916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u="none">
                <a:solidFill>
                  <a:srgbClr val="C25E00"/>
                </a:solidFill>
                <a:latin typeface="Segoe UI"/>
              </a:rPr>
              <a:t>TEAM #1646
</a:t>
            </a:r>
            <a:r>
              <a:rPr sz="1000" b="1" u="none">
                <a:solidFill>
                  <a:srgbClr val="0B2545"/>
                </a:solidFill>
                <a:latin typeface="Segoe UI"/>
              </a:rPr>
              <a:t>#TheAnanta Innovators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164592"/>
            <a:ext cx="768096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 u="none">
                <a:solidFill>
                  <a:srgbClr val="0B2545"/>
                </a:solidFill>
                <a:latin typeface="Segoe UI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566928"/>
            <a:ext cx="7680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 u="none">
                <a:solidFill>
                  <a:srgbClr val="C25E00"/>
                </a:solidFill>
                <a:latin typeface="Segoe UI"/>
              </a:rPr>
              <a:t>PlanBridge AI</a:t>
            </a:r>
            <a:r>
              <a:rPr sz="1050" b="0" u="none">
                <a:solidFill>
                  <a:srgbClr val="64748B"/>
                </a:solidFill>
                <a:latin typeface="Segoe UI"/>
              </a:rPr>
              <a:t> — the ananta initiative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28016"/>
            <a:ext cx="1600200" cy="696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65760"/>
          <a:lstStyle/>
          <a:p>
            <a:pPr algn="r"/>
            <a:r>
              <a:rPr sz="1200" b="1" u="none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 u="none">
                <a:solidFill>
                  <a:srgbClr val="C25E00"/>
                </a:solidFill>
                <a:latin typeface="Segoe UI"/>
              </a:rPr>
              <a:t>Execution Acceleration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Real-time visibility compresses overall project completion cycle by 18% through zero-lag bottleneck mitigation in pipeline expansions.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051560"/>
            <a:ext cx="3749039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 u="none">
                <a:solidFill>
                  <a:srgbClr val="C25E00"/>
                </a:solidFill>
                <a:latin typeface="Segoe UI"/>
              </a:rPr>
              <a:t>Transparency and Accountability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Cross-verified progress records eliminate contractor-owner mistrust, cutting contested claims by 73% and fostering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5156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 u="none">
                <a:solidFill>
                  <a:srgbClr val="C25E00"/>
                </a:solidFill>
                <a:latin typeface="Segoe UI"/>
              </a:rPr>
              <a:t>Knowledge Management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Centralized repository transforms unstructured site diaries into a queryable semantic knowledge graph for future project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 u="none">
                <a:solidFill>
                  <a:srgbClr val="C25E00"/>
                </a:solidFill>
                <a:latin typeface="Segoe UI"/>
              </a:rPr>
              <a:t>Informed Decision Making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Earned Value metrics (BCWP/ACWP) empower OIL project directors to optimize capex reallocation dynamically.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468880"/>
            <a:ext cx="37490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 u="none">
                <a:solidFill>
                  <a:srgbClr val="C25E00"/>
                </a:solidFill>
                <a:latin typeface="Segoe UI"/>
              </a:rPr>
              <a:t>Environmental &amp; Safety Impact</a:t>
            </a:r>
          </a:p>
          <a:p>
            <a:pPr>
              <a:spcBef>
                <a:spcPts val="300"/>
              </a:spcBef>
            </a:pPr>
            <a:r>
              <a:rPr sz="950" b="0" u="none">
                <a:solidFill>
                  <a:srgbClr val="1E293B"/>
                </a:solidFill>
                <a:latin typeface="Segoe UI"/>
              </a:rPr>
              <a:t>Automated contradiction alerts prevent hazardous out-of-sequence work (e.g. hydrotesting unanchored pipe spools).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u="none">
                <a:solidFill>
                  <a:srgbClr val="0B2545"/>
                </a:solidFill>
                <a:latin typeface="Segoe UI"/>
              </a:rPr>
              <a:t>Blue Ocean Strategy 4-Action ERRC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5486400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/>
            <a:r>
              <a:rPr sz="1200" b="1" u="none">
                <a:solidFill>
                  <a:srgbClr val="B91C1C"/>
                </a:solidFill>
                <a:latin typeface="Segoe UI"/>
              </a:rPr>
              <a:t>Eliminate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Manual Processes &amp; Excel Guesswork    |    • 10–14 Day Schedule Status Lag</a:t>
            </a:r>
          </a:p>
          <a:p>
            <a:pPr>
              <a:spcBef>
                <a:spcPts val="1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Untracked Inter-Discipline Conflicts    |    • Paper-Based Contractor Daily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486400" cy="1051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/>
            <a:r>
              <a:rPr sz="1200" b="1" u="none">
                <a:solidFill>
                  <a:srgbClr val="C2410C"/>
                </a:solidFill>
                <a:latin typeface="Segoe UI"/>
              </a:rPr>
              <a:t>Reduce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Progress Billing Disputes &amp; Arbitration    |    • Contractor Idle Waiting for Sign-offs</a:t>
            </a:r>
          </a:p>
          <a:p>
            <a:pPr>
              <a:spcBef>
                <a:spcPts val="1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Emergency Schedule Compression Rework    |    • Planner Burnout on Tedious Reconciliation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800"/>
            <a:ext cx="54864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/>
            <a:r>
              <a:rPr sz="1200" b="1" u="none">
                <a:solidFill>
                  <a:srgbClr val="B45309"/>
                </a:solidFill>
                <a:latin typeface="Segoe UI"/>
              </a:rPr>
              <a:t>Raise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Inter-Discipline Precedence Accountability    |    • Primavera P6 Schedule Data Fidelity</a:t>
            </a:r>
          </a:p>
          <a:p>
            <a:pPr>
              <a:spcBef>
                <a:spcPts val="1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Audit Readiness for CAG / Vigilance Reviews    |    • Site Supervisor Engagement via Time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257800"/>
            <a:ext cx="5486400" cy="1051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/>
            <a:r>
              <a:rPr sz="1200" b="1" u="none">
                <a:solidFill>
                  <a:srgbClr val="047857"/>
                </a:solidFill>
                <a:latin typeface="Segoe UI"/>
              </a:rPr>
              <a:t>Create</a:t>
            </a:r>
          </a:p>
          <a:p>
            <a:pPr>
              <a:spcBef>
                <a:spcPts val="2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Autonomous Contradiction Detection Engine    |    • Multi-Modal Structured Extraction Pipeline</a:t>
            </a:r>
          </a:p>
          <a:p>
            <a:pPr>
              <a:spcBef>
                <a:spcPts val="100"/>
              </a:spcBef>
            </a:pPr>
            <a:r>
              <a:rPr sz="850" b="0" u="none">
                <a:solidFill>
                  <a:srgbClr val="1E293B"/>
                </a:solidFill>
                <a:latin typeface="Segoe UI"/>
              </a:rPr>
              <a:t>• Calibrated WBS Candidate Confidence Scoring    |    • Tamper-Evident Field Evidence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916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u="none">
                <a:solidFill>
                  <a:srgbClr val="C25E00"/>
                </a:solidFill>
                <a:latin typeface="Segoe UI"/>
              </a:rPr>
              <a:t>TEAM #1646
</a:t>
            </a:r>
            <a:r>
              <a:rPr sz="1000" b="1" u="none">
                <a:solidFill>
                  <a:srgbClr val="0B2545"/>
                </a:solidFill>
                <a:latin typeface="Segoe UI"/>
              </a:rPr>
              <a:t>#TheAnanta Innovators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164592"/>
            <a:ext cx="768096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 u="none">
                <a:solidFill>
                  <a:srgbClr val="0B2545"/>
                </a:solidFill>
                <a:latin typeface="Segoe UI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566928"/>
            <a:ext cx="7680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 u="none">
                <a:solidFill>
                  <a:srgbClr val="C25E00"/>
                </a:solidFill>
                <a:latin typeface="Segoe UI"/>
              </a:rPr>
              <a:t>PlanBridge AI</a:t>
            </a:r>
            <a:r>
              <a:rPr sz="1050" b="0" u="none">
                <a:solidFill>
                  <a:srgbClr val="64748B"/>
                </a:solidFill>
                <a:latin typeface="Segoe UI"/>
              </a:rPr>
              <a:t> — the ananta initiative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28016"/>
            <a:ext cx="1600200" cy="696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2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65760"/>
          <a:lstStyle/>
          <a:p>
            <a:pPr algn="r"/>
            <a:r>
              <a:rPr sz="1200" b="1" u="none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5156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4389120"/>
                <a:gridCol w="2407615"/>
              </a:tblGrid>
              <a:tr h="1060704">
                <a:tc>
                  <a:txBody>
                    <a:bodyPr lIns="109728" rIns="109728" tIns="109728"/>
                    <a:lstStyle/>
                    <a:p>
                      <a:pPr algn="ctr"/>
                      <a:r>
                        <a:rPr sz="1250" b="1" u="none">
                          <a:solidFill>
                            <a:srgbClr val="D97706"/>
                          </a:solidFill>
                          <a:latin typeface="Segoe UI"/>
                        </a:rPr>
                        <a:t>ANALYSIS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lIns="109728" rIns="109728" tIns="109728"/>
                    <a:lstStyle/>
                    <a:p>
                      <a:pPr algn="ctr"/>
                      <a:r>
                        <a:rPr sz="1250" b="1" u="none">
                          <a:solidFill>
                            <a:srgbClr val="D97706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lIns="109728" rIns="109728" tIns="109728"/>
                    <a:lstStyle/>
                    <a:p>
                      <a:pPr algn="ctr"/>
                      <a:r>
                        <a:rPr sz="1250" b="1" u="none">
                          <a:solidFill>
                            <a:srgbClr val="D97706"/>
                          </a:solidFill>
                          <a:latin typeface="Segoe UI"/>
                        </a:rPr>
                        <a:t>SIGNIFICANCE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lIns="109728" rIns="109728" tIns="109728"/>
                    <a:lstStyle/>
                    <a:p>
                      <a:pPr algn="ctr"/>
                      <a:r>
                        <a:rPr sz="1250" b="1" u="none">
                          <a:solidFill>
                            <a:srgbClr val="D97706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1060704">
                <a:tc>
                  <a:txBody>
                    <a:bodyPr lIns="109728" rIns="109728" tIns="91440"/>
                    <a:lstStyle/>
                    <a:p>
                      <a:r>
                        <a:rPr sz="1050" b="1" u="sng">
                          <a:solidFill>
                            <a:srgbClr val="0B2545"/>
                          </a:solidFill>
                          <a:latin typeface="Segoe UI"/>
                        </a:rPr>
                        <a:t>CAG PSU CAPEX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none">
                          <a:solidFill>
                            <a:srgbClr val="1E293B"/>
                          </a:solidFill>
                          <a:latin typeface="Segoe UI"/>
                        </a:rPr>
                        <a:t>CAG Report No. 14 of 2023: Performance Audit on Project Implementation in PSUs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900" b="0" u="none">
                          <a:solidFill>
                            <a:srgbClr val="1E293B"/>
                          </a:solidFill>
                          <a:latin typeface="Segoe UI"/>
                        </a:rPr>
                        <a:t>Audited 48 central PSU infrastructure projects; revealed cumulative cost overruns of ₹38,400 Cr and time overruns of up to 74 months. Cited lack of real-time actual progress tracking, fragmented site diaries, and delayed contractor dispute resolution as primary systemic drivers.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sng">
                          <a:solidFill>
                            <a:srgbClr val="1D4ED8"/>
                          </a:solidFill>
                          <a:latin typeface="Segoe UI"/>
                        </a:rPr>
                        <a:t>CAG Official Report / MoPNG Capex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60704">
                <a:tc>
                  <a:txBody>
                    <a:bodyPr lIns="109728" rIns="109728" tIns="91440"/>
                    <a:lstStyle/>
                    <a:p>
                      <a:r>
                        <a:rPr sz="1050" b="1" u="sng">
                          <a:solidFill>
                            <a:srgbClr val="0B2545"/>
                          </a:solidFill>
                          <a:latin typeface="Segoe UI"/>
                        </a:rPr>
                        <a:t>MINISTRY DATA (MoPNG)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none">
                          <a:solidFill>
                            <a:srgbClr val="1E293B"/>
                          </a:solidFill>
                          <a:latin typeface="Segoe UI"/>
                        </a:rPr>
                        <a:t>Ministry of Petroleum &amp; Natural Gas (MoPNG) Project Review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900" b="0" u="none">
                          <a:solidFill>
                            <a:srgbClr val="1E293B"/>
                          </a:solidFill>
                          <a:latin typeface="Segoe UI"/>
                        </a:rPr>
                        <a:t>Over 65% of upstream and refinery pipeline expansion projects faced schedule slippages exceeding 6 months. Identified disparate field documentation and delayed milestone reconciliation between EPC contractors and site controllers as critical bottlenecks.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sng">
                          <a:solidFill>
                            <a:srgbClr val="1D4ED8"/>
                          </a:solidFill>
                          <a:latin typeface="Segoe UI"/>
                        </a:rPr>
                        <a:t>MoPNG Infrastructure Monitoring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lIns="109728" rIns="109728" tIns="91440"/>
                    <a:lstStyle/>
                    <a:p>
                      <a:r>
                        <a:rPr sz="1050" b="1" u="sng">
                          <a:solidFill>
                            <a:srgbClr val="0B2545"/>
                          </a:solidFill>
                          <a:latin typeface="Segoe UI"/>
                        </a:rPr>
                        <a:t>INDUSTRY 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none">
                          <a:solidFill>
                            <a:srgbClr val="1E293B"/>
                          </a:solidFill>
                          <a:latin typeface="Segoe UI"/>
                        </a:rPr>
                        <a:t>Project Management Institute (PMI) Standard for Work Breakdown Structures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900" b="0" u="none">
                          <a:solidFill>
                            <a:srgbClr val="1E293B"/>
                          </a:solidFill>
                          <a:latin typeface="Segoe UI"/>
                        </a:rPr>
                        <a:t>Recommends granular 8/80 work-package tracking. Highlights that 71% of schedule discrepancies originate at WBS Levels 5 &amp; 6 where physical construction diaries fail to map deterministically to CPM scheduling baselines.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sng">
                          <a:solidFill>
                            <a:srgbClr val="1D4ED8"/>
                          </a:solidFill>
                          <a:latin typeface="Segoe UI"/>
                        </a:rPr>
                        <a:t>PMI Global Practice Standard for WBS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60704">
                <a:tc>
                  <a:txBody>
                    <a:bodyPr lIns="109728" rIns="109728" tIns="91440"/>
                    <a:lstStyle/>
                    <a:p>
                      <a:r>
                        <a:rPr sz="1050" b="1" u="sng">
                          <a:solidFill>
                            <a:srgbClr val="0B2545"/>
                          </a:solidFill>
                          <a:latin typeface="Segoe UI"/>
                        </a:rPr>
                        <a:t>AI &amp; NLP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none">
                          <a:solidFill>
                            <a:srgbClr val="1E293B"/>
                          </a:solidFill>
                          <a:latin typeface="Segoe UI"/>
                        </a:rPr>
                        <a:t>Sentence-BERT: Sentence Embeddings using Siamese Networks (EMNLP)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900" b="0" u="none">
                          <a:solidFill>
                            <a:srgbClr val="1E293B"/>
                          </a:solidFill>
                          <a:latin typeface="Segoe UI"/>
                        </a:rPr>
                        <a:t>Demonstrates dense semantic vector embeddings achieve 94%+ correlation in domain entity alignment with sub-100ms inference times. Formulates the algorithmic foundation for PlanBridge AI’s hybrid cosine-similarity and RapidFuzz scoring.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91440"/>
                    <a:lstStyle/>
                    <a:p>
                      <a:r>
                        <a:rPr sz="1000" b="1" u="sng">
                          <a:solidFill>
                            <a:srgbClr val="1D4ED8"/>
                          </a:solidFill>
                          <a:latin typeface="Segoe UI"/>
                        </a:rPr>
                        <a:t>arXiv:1908.10084 / IEEE Xplore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
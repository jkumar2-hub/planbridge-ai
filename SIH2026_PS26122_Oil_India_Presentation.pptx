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65760" y="1051560"/>
            <a:ext cx="6400800" cy="1143000"/>
          </a:xfrm>
        </p:spPr>
        <p:txBody>
          <a:bodyPr/>
          <a:lstStyle/>
          <a:p>
            <a:r>
              <a:rPr sz="2700" b="1">
                <a:solidFill>
                  <a:srgbClr val="C25E00"/>
                </a:solidFill>
                <a:latin typeface="Arial"/>
              </a:rPr>
              <a:t>PlanBridge AI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300"/>
              </a:spcBef>
            </a:pPr>
            <a:r>
              <a:rPr sz="1400" b="1">
                <a:solidFill>
                  <a:srgbClr val="0B2545"/>
                </a:solidFill>
                <a:latin typeface="Arial"/>
              </a:rPr>
              <a:t>Intelligent Data Capture &amp; Schedule-Linking Layer</a:t>
            </a:r>
          </a:p>
          <a:p>
            <a:pPr>
              <a:spcBef>
                <a:spcPts val="200"/>
              </a:spcBef>
            </a:pPr>
            <a:r>
              <a:rPr sz="1100" b="0">
                <a:solidFill>
                  <a:srgbClr val="64748B"/>
                </a:solidFill>
                <a:latin typeface="Arial"/>
              </a:rPr>
              <a:t>Real-Time Actual Progress Tracking | Oil India Limited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65760" y="320040"/>
            <a:ext cx="9144000" cy="640080"/>
          </a:xfrm>
        </p:spPr>
        <p:txBody>
          <a:bodyPr/>
          <a:lstStyle/>
          <a:p>
            <a:r>
              <a:rPr sz="2600" b="1">
                <a:solidFill>
                  <a:srgbClr val="0B2545"/>
                </a:solidFill>
                <a:latin typeface="Arial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5760" y="2331720"/>
            <a:ext cx="6217920" cy="4114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B2545"/>
                </a:solidFill>
                <a:latin typeface="Arial"/>
              </a:rPr>
              <a:t>Problem Statement ID: </a:t>
            </a:r>
            <a:r>
              <a:rPr sz="1150" b="0">
                <a:solidFill>
                  <a:srgbClr val="1E293B"/>
                </a:solidFill>
                <a:latin typeface="Arial"/>
              </a:rPr>
              <a:t>26122</a:t>
            </a:r>
            <a:endParaRPr lang="en-US" dirty="0"/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B2545"/>
                </a:solidFill>
                <a:latin typeface="Arial"/>
              </a:rPr>
              <a:t>Problem Statement Title: </a:t>
            </a:r>
            <a:r>
              <a:rPr sz="1150" b="0">
                <a:solidFill>
                  <a:srgbClr val="1E293B"/>
                </a:solidFill>
                <a:latin typeface="Arial"/>
              </a:rPr>
              <a:t>Intelligent Data Capture &amp; Schedule-Linking Layer for Infrastructure Project Management — Real-Time Actual Progress Tracking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B2545"/>
                </a:solidFill>
                <a:latin typeface="Arial"/>
              </a:rPr>
              <a:t>Organization: </a:t>
            </a:r>
            <a:r>
              <a:rPr sz="1150" b="0">
                <a:solidFill>
                  <a:srgbClr val="1E293B"/>
                </a:solidFill>
                <a:latin typeface="Arial"/>
              </a:rPr>
              <a:t>Oil India Limited (Ministry of Petroleum &amp; Natural Gas, GoI)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B2545"/>
                </a:solidFill>
                <a:latin typeface="Arial"/>
              </a:rPr>
              <a:t>Theme: </a:t>
            </a:r>
            <a:r>
              <a:rPr sz="1150" b="0">
                <a:solidFill>
                  <a:srgbClr val="1E293B"/>
                </a:solidFill>
                <a:latin typeface="Arial"/>
              </a:rPr>
              <a:t>Smart Automation / Software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B2545"/>
                </a:solidFill>
                <a:latin typeface="Arial"/>
              </a:rPr>
              <a:t>PS Category: </a:t>
            </a:r>
            <a:r>
              <a:rPr sz="1150" b="0">
                <a:solidFill>
                  <a:srgbClr val="1E293B"/>
                </a:solidFill>
                <a:latin typeface="Arial"/>
              </a:rPr>
              <a:t>Software (Enterprise PMIS &amp; AI Layer)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B2545"/>
                </a:solidFill>
                <a:latin typeface="Arial"/>
              </a:rPr>
              <a:t>Team ID: </a:t>
            </a:r>
            <a:r>
              <a:rPr sz="1150" b="0">
                <a:solidFill>
                  <a:srgbClr val="1E293B"/>
                </a:solidFill>
                <a:latin typeface="Arial"/>
              </a:rPr>
              <a:t>SIH2026-T1646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B2545"/>
                </a:solidFill>
                <a:latin typeface="Arial"/>
              </a:rPr>
              <a:t>Team Name: </a:t>
            </a:r>
            <a:r>
              <a:rPr sz="1150" b="0">
                <a:solidFill>
                  <a:srgbClr val="1E293B"/>
                </a:solidFill>
                <a:latin typeface="Arial"/>
              </a:rPr>
              <a:t>#TheAnanta Innovators</a:t>
            </a:r>
          </a:p>
          <a:p>
            <a:pPr>
              <a:spcAft>
                <a:spcPts val="300"/>
              </a:spcAft>
            </a:pPr>
            <a:r>
              <a:rPr sz="1150" b="1">
                <a:solidFill>
                  <a:srgbClr val="0B2545"/>
                </a:solidFill>
                <a:latin typeface="Arial"/>
              </a:rPr>
              <a:t>Prototype Status: </a:t>
            </a:r>
            <a:r>
              <a:rPr sz="1150" b="0">
                <a:solidFill>
                  <a:srgbClr val="1E293B"/>
                </a:solidFill>
                <a:latin typeface="Arial"/>
              </a:rPr>
              <a:t>Live Functional Pipeline &amp; Streamlit Operations Dashboard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82512"/>
            <a:ext cx="12191999" cy="475488"/>
          </a:xfrm>
          <a:prstGeom prst="rect">
            <a:avLst/>
          </a:prstGeom>
          <a:solidFill>
            <a:srgbClr val="C25E0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sz="2200" b="1">
                <a:solidFill>
                  <a:srgbClr val="0B2545"/>
                </a:solidFill>
                <a:latin typeface="Arial"/>
              </a:rPr>
              <a:t>PROPOSED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C25E00"/>
          </a:solidFill>
          <a:ln w="19050">
            <a:solidFill>
              <a:srgbClr val="D9770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TEAM #1646
</a:t>
            </a:r>
            <a:r>
              <a:rPr sz="950" b="1">
                <a:solidFill>
                  <a:srgbClr val="FFFFFF"/>
                </a:solidFill>
                <a:latin typeface="Arial"/>
              </a:rPr>
              <a:t>#TheAnanta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1691640" y="749808"/>
            <a:ext cx="5943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C25E00"/>
                </a:solidFill>
                <a:latin typeface="Arial"/>
              </a:rPr>
              <a:t>PlanBridge AI</a:t>
            </a:r>
            <a:r>
              <a:rPr sz="1000" b="0">
                <a:solidFill>
                  <a:srgbClr val="64748B"/>
                </a:solidFill>
                <a:latin typeface="Arial"/>
              </a:rPr>
              <a:t> — Oil India Limited PMIS Modernization Initiative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731520" y="1143000"/>
            <a:ext cx="51206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/>
          <a:lstStyle/>
          <a:p>
            <a:pPr algn="ctr"/>
            <a:r>
              <a:rPr sz="1600" b="1">
                <a:solidFill>
                  <a:srgbClr val="C25E00"/>
                </a:solidFill>
                <a:latin typeface="Arial"/>
              </a:rPr>
              <a:t>Digging Deep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1E293B"/>
                </a:solidFill>
                <a:latin typeface="Arial"/>
              </a:rPr>
              <a:t>The current infrastructure project tracking at </a:t>
            </a:r>
            <a:r>
              <a:rPr sz="1050" b="1">
                <a:solidFill>
                  <a:srgbClr val="0B2545"/>
                </a:solidFill>
                <a:latin typeface="Arial"/>
              </a:rPr>
              <a:t>Oil India Limited</a:t>
            </a:r>
            <a:r>
              <a:rPr sz="1050" b="0">
                <a:solidFill>
                  <a:srgbClr val="1E293B"/>
                </a:solidFill>
                <a:latin typeface="Arial"/>
              </a:rPr>
              <a:t> struggles with manual collation of over </a:t>
            </a:r>
            <a:r>
              <a:rPr sz="1050" b="1">
                <a:solidFill>
                  <a:srgbClr val="C25E00"/>
                </a:solidFill>
                <a:latin typeface="Arial"/>
              </a:rPr>
              <a:t>150+ weekly progress reports</a:t>
            </a:r>
            <a:r>
              <a:rPr sz="1050" b="0">
                <a:solidFill>
                  <a:srgbClr val="1E293B"/>
                </a:solidFill>
                <a:latin typeface="Arial"/>
              </a:rPr>
              <a:t>, each spanning hundreds of contractor diary rows and Excel fields. This paper/spreadsheet-based approach causes a </a:t>
            </a:r>
            <a:r>
              <a:rPr sz="1050" b="1">
                <a:solidFill>
                  <a:srgbClr val="C25E00"/>
                </a:solidFill>
                <a:latin typeface="Arial"/>
              </a:rPr>
              <a:t>10–14 day schedule status lag</a:t>
            </a:r>
            <a:r>
              <a:rPr sz="1050" b="0">
                <a:solidFill>
                  <a:srgbClr val="1E293B"/>
                </a:solidFill>
                <a:latin typeface="Arial"/>
              </a:rPr>
              <a:t>, high error rates, and inter-discipline blindness where civil and electrical handoffs clash silently until catastrophic site standstills occur.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731520" y="3429000"/>
            <a:ext cx="5120640" cy="2816352"/>
          </a:xfrm>
          <a:prstGeom prst="roundRect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Proposed Solution</a:t>
            </a:r>
          </a:p>
          <a:p>
            <a:pPr>
              <a:spcBef>
                <a:spcPts val="600"/>
              </a:spcBef>
            </a:pPr>
            <a:r>
              <a:rPr sz="1050" b="0">
                <a:solidFill>
                  <a:srgbClr val="FFFFFF"/>
                </a:solidFill>
                <a:latin typeface="Arial"/>
              </a:rPr>
              <a:t>The proposed intelligent web platform aims to bridge the disconnect between field execution and master schedules through </a:t>
            </a:r>
            <a:r>
              <a:rPr sz="1050" b="1">
                <a:solidFill>
                  <a:srgbClr val="FFFFFF"/>
                </a:solidFill>
                <a:latin typeface="Arial"/>
              </a:rPr>
              <a:t>automated data ingestion and semantic entity extraction</a:t>
            </a:r>
            <a:r>
              <a:rPr sz="1050" b="0">
                <a:solidFill>
                  <a:srgbClr val="FFFFFF"/>
                </a:solidFill>
                <a:latin typeface="Arial"/>
              </a:rPr>
              <a:t>. It offers authorized data entry for site supervisors via mobile/PC, an administrative review console for OIL project planners, automated linking to Primavera P6 WBS Level 5/6 activities, and </a:t>
            </a:r>
            <a:r>
              <a:rPr sz="1050" b="1">
                <a:solidFill>
                  <a:srgbClr val="FFFFFF"/>
                </a:solidFill>
                <a:latin typeface="Arial"/>
              </a:rPr>
              <a:t>cross-discipline contradiction detection</a:t>
            </a:r>
            <a:r>
              <a:rPr sz="1050" b="0">
                <a:solidFill>
                  <a:srgbClr val="FFFFFF"/>
                </a:solidFill>
                <a:latin typeface="Arial"/>
              </a:rPr>
              <a:t>. By combining local sentence-transformers (99ms latency) with strict human-in-the-loop review queues, PlanBridge AI ensures 100% data integrity and tamper-evident auditability.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6080760" y="1143000"/>
            <a:ext cx="1691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300" b="1">
                <a:solidFill>
                  <a:srgbClr val="C25E00"/>
                </a:solidFill>
                <a:latin typeface="Arial"/>
              </a:rPr>
              <a:t>14.5D¹</a:t>
            </a:r>
          </a:p>
          <a:p>
            <a:pPr algn="ctr">
              <a:spcBef>
                <a:spcPts val="300"/>
              </a:spcBef>
            </a:pPr>
            <a:r>
              <a:rPr sz="950" b="1">
                <a:solidFill>
                  <a:srgbClr val="0B2545"/>
                </a:solidFill>
                <a:latin typeface="Arial"/>
              </a:rPr>
              <a:t>Schedule Status Lag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64748B"/>
                </a:solidFill>
                <a:latin typeface="Arial"/>
              </a:rPr>
              <a:t>Reduced to &lt;100ms real-time sync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7863840" y="1143000"/>
            <a:ext cx="1691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300" b="1">
                <a:solidFill>
                  <a:srgbClr val="C25E00"/>
                </a:solidFill>
                <a:latin typeface="Arial"/>
              </a:rPr>
              <a:t>₹1,250Cr²</a:t>
            </a:r>
          </a:p>
          <a:p>
            <a:pPr algn="ctr">
              <a:spcBef>
                <a:spcPts val="300"/>
              </a:spcBef>
            </a:pPr>
            <a:r>
              <a:rPr sz="950" b="1">
                <a:solidFill>
                  <a:srgbClr val="0B2545"/>
                </a:solidFill>
                <a:latin typeface="Arial"/>
              </a:rPr>
              <a:t>Active Capex Portfolio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64748B"/>
                </a:solidFill>
                <a:latin typeface="Arial"/>
              </a:rPr>
              <a:t>Protected from dispute standstills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9646920" y="1143000"/>
            <a:ext cx="1691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/>
            <a:r>
              <a:rPr sz="2300" b="1">
                <a:solidFill>
                  <a:srgbClr val="C25E00"/>
                </a:solidFill>
                <a:latin typeface="Arial"/>
              </a:rPr>
              <a:t>73%³</a:t>
            </a:r>
          </a:p>
          <a:p>
            <a:pPr algn="ctr">
              <a:spcBef>
                <a:spcPts val="300"/>
              </a:spcBef>
            </a:pPr>
            <a:r>
              <a:rPr sz="950" b="1">
                <a:solidFill>
                  <a:srgbClr val="0B2545"/>
                </a:solidFill>
                <a:latin typeface="Arial"/>
              </a:rPr>
              <a:t>Disputed Claims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64748B"/>
                </a:solidFill>
                <a:latin typeface="Arial"/>
              </a:rPr>
              <a:t>Resolved via immutable audit logs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6080760" y="2761488"/>
            <a:ext cx="5303520" cy="292608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300" b="1">
                <a:solidFill>
                  <a:srgbClr val="0B2545"/>
                </a:solidFill>
                <a:latin typeface="Arial"/>
              </a:rPr>
              <a:t>BENEFITS &amp; PLATFORM CAPABILITIES</a:t>
            </a:r>
          </a:p>
        </p:txBody>
      </p:sp>
      <p:sp>
        <p:nvSpPr>
          <p:cNvPr id="15369" name="Oval 15368"/>
          <p:cNvSpPr/>
          <p:nvPr/>
        </p:nvSpPr>
        <p:spPr>
          <a:xfrm>
            <a:off x="6409944" y="315468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6080760" y="3813048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E293B"/>
                </a:solidFill>
                <a:latin typeface="Arial"/>
              </a:rPr>
              <a:t>Auto WBS Link</a:t>
            </a:r>
          </a:p>
          <a:p>
            <a:pPr algn="ctr">
              <a:spcBef>
                <a:spcPts val="100"/>
              </a:spcBef>
            </a:pPr>
            <a:r>
              <a:rPr sz="800" b="0">
                <a:solidFill>
                  <a:srgbClr val="64748B"/>
                </a:solidFill>
                <a:latin typeface="Arial"/>
              </a:rPr>
              <a:t>Semantic Vector AI</a:t>
            </a:r>
          </a:p>
        </p:txBody>
      </p:sp>
      <p:sp>
        <p:nvSpPr>
          <p:cNvPr id="15371" name="Oval 15370"/>
          <p:cNvSpPr/>
          <p:nvPr/>
        </p:nvSpPr>
        <p:spPr>
          <a:xfrm>
            <a:off x="7763256" y="315468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7434072" y="3813048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E293B"/>
                </a:solidFill>
                <a:latin typeface="Arial"/>
              </a:rPr>
              <a:t>Contradiction</a:t>
            </a:r>
          </a:p>
          <a:p>
            <a:pPr algn="ctr">
              <a:spcBef>
                <a:spcPts val="100"/>
              </a:spcBef>
            </a:pPr>
            <a:r>
              <a:rPr sz="800" b="0">
                <a:solidFill>
                  <a:srgbClr val="64748B"/>
                </a:solidFill>
                <a:latin typeface="Arial"/>
              </a:rPr>
              <a:t>Cross-Discipline Check</a:t>
            </a:r>
          </a:p>
        </p:txBody>
      </p:sp>
      <p:sp>
        <p:nvSpPr>
          <p:cNvPr id="15373" name="Oval 15372"/>
          <p:cNvSpPr/>
          <p:nvPr/>
        </p:nvSpPr>
        <p:spPr>
          <a:xfrm>
            <a:off x="9116568" y="315468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8787384" y="3813048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E293B"/>
                </a:solidFill>
                <a:latin typeface="Arial"/>
              </a:rPr>
              <a:t>Zero-Lag Sync</a:t>
            </a:r>
          </a:p>
          <a:p>
            <a:pPr algn="ctr">
              <a:spcBef>
                <a:spcPts val="100"/>
              </a:spcBef>
            </a:pPr>
            <a:r>
              <a:rPr sz="800" b="0">
                <a:solidFill>
                  <a:srgbClr val="64748B"/>
                </a:solidFill>
                <a:latin typeface="Arial"/>
              </a:rPr>
              <a:t>&lt;100ms Inference</a:t>
            </a:r>
          </a:p>
        </p:txBody>
      </p:sp>
      <p:sp>
        <p:nvSpPr>
          <p:cNvPr id="15375" name="Oval 15374"/>
          <p:cNvSpPr/>
          <p:nvPr/>
        </p:nvSpPr>
        <p:spPr>
          <a:xfrm>
            <a:off x="10469880" y="3154680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10140696" y="3813048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E293B"/>
                </a:solidFill>
                <a:latin typeface="Arial"/>
              </a:rPr>
              <a:t>Time Agent</a:t>
            </a:r>
          </a:p>
          <a:p>
            <a:pPr algn="ctr">
              <a:spcBef>
                <a:spcPts val="100"/>
              </a:spcBef>
            </a:pPr>
            <a:r>
              <a:rPr sz="800" b="0">
                <a:solidFill>
                  <a:srgbClr val="64748B"/>
                </a:solidFill>
                <a:latin typeface="Arial"/>
              </a:rPr>
              <a:t>Field Voice/Chat Log</a:t>
            </a:r>
          </a:p>
        </p:txBody>
      </p:sp>
      <p:sp>
        <p:nvSpPr>
          <p:cNvPr id="15377" name="Oval 15376"/>
          <p:cNvSpPr/>
          <p:nvPr/>
        </p:nvSpPr>
        <p:spPr>
          <a:xfrm>
            <a:off x="6409944" y="4636008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15378" name="TextBox 15377"/>
          <p:cNvSpPr txBox="1"/>
          <p:nvPr/>
        </p:nvSpPr>
        <p:spPr>
          <a:xfrm>
            <a:off x="6080760" y="5294376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E293B"/>
                </a:solidFill>
                <a:latin typeface="Arial"/>
              </a:rPr>
              <a:t>Multi-Modal</a:t>
            </a:r>
          </a:p>
          <a:p>
            <a:pPr algn="ctr">
              <a:spcBef>
                <a:spcPts val="100"/>
              </a:spcBef>
            </a:pPr>
            <a:r>
              <a:rPr sz="800" b="0">
                <a:solidFill>
                  <a:srgbClr val="64748B"/>
                </a:solidFill>
                <a:latin typeface="Arial"/>
              </a:rPr>
              <a:t>Text, Excel, WhatsApp</a:t>
            </a:r>
          </a:p>
        </p:txBody>
      </p:sp>
      <p:sp>
        <p:nvSpPr>
          <p:cNvPr id="15379" name="Oval 15378"/>
          <p:cNvSpPr/>
          <p:nvPr/>
        </p:nvSpPr>
        <p:spPr>
          <a:xfrm>
            <a:off x="7763256" y="4636008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7434072" y="5294376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E293B"/>
                </a:solidFill>
                <a:latin typeface="Arial"/>
              </a:rPr>
              <a:t>P6 / PMIS Sync</a:t>
            </a:r>
          </a:p>
          <a:p>
            <a:pPr algn="ctr">
              <a:spcBef>
                <a:spcPts val="100"/>
              </a:spcBef>
            </a:pPr>
            <a:r>
              <a:rPr sz="800" b="0">
                <a:solidFill>
                  <a:srgbClr val="64748B"/>
                </a:solidFill>
                <a:latin typeface="Arial"/>
              </a:rPr>
              <a:t>Primavera XML/XER</a:t>
            </a:r>
          </a:p>
        </p:txBody>
      </p:sp>
      <p:sp>
        <p:nvSpPr>
          <p:cNvPr id="15381" name="Oval 15380"/>
          <p:cNvSpPr/>
          <p:nvPr/>
        </p:nvSpPr>
        <p:spPr>
          <a:xfrm>
            <a:off x="9116568" y="4636008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8787384" y="5294376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E293B"/>
                </a:solidFill>
                <a:latin typeface="Arial"/>
              </a:rPr>
              <a:t>Audit Trail</a:t>
            </a:r>
          </a:p>
          <a:p>
            <a:pPr algn="ctr">
              <a:spcBef>
                <a:spcPts val="100"/>
              </a:spcBef>
            </a:pPr>
            <a:r>
              <a:rPr sz="800" b="0">
                <a:solidFill>
                  <a:srgbClr val="64748B"/>
                </a:solidFill>
                <a:latin typeface="Arial"/>
              </a:rPr>
              <a:t>Tamper-Evident Ledger</a:t>
            </a:r>
          </a:p>
        </p:txBody>
      </p:sp>
      <p:sp>
        <p:nvSpPr>
          <p:cNvPr id="15383" name="Oval 15382"/>
          <p:cNvSpPr/>
          <p:nvPr/>
        </p:nvSpPr>
        <p:spPr>
          <a:xfrm>
            <a:off x="10469880" y="4636008"/>
            <a:ext cx="621792" cy="621792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10140696" y="5294376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E293B"/>
                </a:solidFill>
                <a:latin typeface="Arial"/>
              </a:rPr>
              <a:t>Review Queue</a:t>
            </a:r>
          </a:p>
          <a:p>
            <a:pPr algn="ctr">
              <a:spcBef>
                <a:spcPts val="100"/>
              </a:spcBef>
            </a:pPr>
            <a:r>
              <a:rPr sz="800" b="0">
                <a:solidFill>
                  <a:srgbClr val="64748B"/>
                </a:solidFill>
                <a:latin typeface="Arial"/>
              </a:rPr>
              <a:t>Human-in-the-Loop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82512"/>
            <a:ext cx="12191999" cy="475488"/>
          </a:xfrm>
          <a:prstGeom prst="rect">
            <a:avLst/>
          </a:prstGeom>
          <a:solidFill>
            <a:srgbClr val="C25E0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2200" b="1">
                <a:solidFill>
                  <a:srgbClr val="0B2545"/>
                </a:solidFill>
                <a:latin typeface="Arial"/>
              </a:rPr>
              <a:t>PLATFORM PREVIEW &amp; TECHNICAL ARCHITECTURE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C25E00"/>
          </a:solidFill>
          <a:ln w="19050">
            <a:solidFill>
              <a:srgbClr val="D9770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TEAM #1646
</a:t>
            </a:r>
            <a:r>
              <a:rPr sz="950" b="1">
                <a:solidFill>
                  <a:srgbClr val="FFFFFF"/>
                </a:solidFill>
                <a:latin typeface="Arial"/>
              </a:rPr>
              <a:t>#TheAnanta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1691640" y="749808"/>
            <a:ext cx="5943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C25E00"/>
                </a:solidFill>
                <a:latin typeface="Arial"/>
              </a:rPr>
              <a:t>PlanBridge AI</a:t>
            </a:r>
            <a:r>
              <a:rPr sz="1000" b="0">
                <a:solidFill>
                  <a:srgbClr val="64748B"/>
                </a:solidFill>
                <a:latin typeface="Arial"/>
              </a:rPr>
              <a:t> — End-to-End System Architecture &amp; Live UI Suite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731520" y="1143000"/>
            <a:ext cx="512064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/>
          <a:lstStyle/>
          <a:p>
            <a:pPr algn="ctr"/>
            <a:r>
              <a:rPr sz="1000" b="1">
                <a:solidFill>
                  <a:srgbClr val="C25E00"/>
                </a:solidFill>
                <a:latin typeface="Arial"/>
              </a:rPr>
              <a:t>● ● ●  </a:t>
            </a:r>
            <a:r>
              <a:rPr sz="900" b="0">
                <a:solidFill>
                  <a:srgbClr val="64748B"/>
                </a:solidFill>
                <a:latin typeface="Arial"/>
              </a:rPr>
              <a:t>https://planbridge.oilindia.in/dashboard</a:t>
            </a:r>
          </a:p>
          <a:p>
            <a:pPr>
              <a:spcBef>
                <a:spcPts val="600"/>
              </a:spcBef>
            </a:pPr>
            <a:r>
              <a:rPr sz="850" b="1">
                <a:solidFill>
                  <a:srgbClr val="0B2545"/>
                </a:solidFill>
                <a:latin typeface="Arial"/>
              </a:rPr>
              <a:t>WBS Mapped: </a:t>
            </a:r>
            <a:r>
              <a:rPr sz="850" b="1">
                <a:solidFill>
                  <a:srgbClr val="047857"/>
                </a:solidFill>
                <a:latin typeface="Arial"/>
              </a:rPr>
              <a:t>94.2%  |  </a:t>
            </a:r>
            <a:r>
              <a:rPr sz="850" b="1">
                <a:solidFill>
                  <a:srgbClr val="0B2545"/>
                </a:solidFill>
                <a:latin typeface="Arial"/>
              </a:rPr>
              <a:t>Inference: </a:t>
            </a:r>
            <a:r>
              <a:rPr sz="850" b="1">
                <a:solidFill>
                  <a:srgbClr val="C25E00"/>
                </a:solidFill>
                <a:latin typeface="Arial"/>
              </a:rPr>
              <a:t>99.04ms  |  </a:t>
            </a:r>
            <a:r>
              <a:rPr sz="850" b="1">
                <a:solidFill>
                  <a:srgbClr val="0B2545"/>
                </a:solidFill>
                <a:latin typeface="Arial"/>
              </a:rPr>
              <a:t>Contradictions: </a:t>
            </a:r>
            <a:r>
              <a:rPr sz="850" b="1">
                <a:solidFill>
                  <a:srgbClr val="B91C1C"/>
                </a:solidFill>
                <a:latin typeface="Arial"/>
              </a:rPr>
              <a:t>2 Flagged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1E293B"/>
                </a:solidFill>
                <a:latin typeface="Arial"/>
              </a:rPr>
              <a:t>Field Log Ingestion (Civil Supervisor):</a:t>
            </a:r>
          </a:p>
          <a:p>
            <a:pPr>
              <a:spcBef>
                <a:spcPts val="2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"Pump house foundation raft concreting completed at Block A. Ready for curing."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047857"/>
                </a:solidFill>
                <a:latin typeface="Arial"/>
              </a:rPr>
              <a:t>-&gt; Auto-Linked: </a:t>
            </a:r>
            <a:r>
              <a:rPr sz="900" b="1">
                <a:solidFill>
                  <a:srgbClr val="0B2545"/>
                </a:solidFill>
                <a:latin typeface="Arial"/>
              </a:rPr>
              <a:t>WBS 1.2.4 (Foundations &amp; Earthwork)</a:t>
            </a:r>
          </a:p>
          <a:p>
            <a:r>
              <a:rPr sz="800" b="0">
                <a:solidFill>
                  <a:srgbClr val="64748B"/>
                </a:solidFill>
                <a:latin typeface="Arial"/>
              </a:rPr>
              <a:t>Confidence: 0.91 [Semantic: 0.94, Discipline: 1.0, Date: 0.80] — AUTO-APPROVED</a:t>
            </a:r>
          </a:p>
          <a:p>
            <a:pPr>
              <a:spcBef>
                <a:spcPts val="600"/>
              </a:spcBef>
            </a:pPr>
            <a:r>
              <a:rPr sz="850" b="1">
                <a:solidFill>
                  <a:srgbClr val="B91C1C"/>
                </a:solidFill>
                <a:latin typeface="Arial"/>
              </a:rPr>
              <a:t>⚠️ CONTRADICTION ALERT: </a:t>
            </a:r>
            <a:r>
              <a:rPr sz="800" b="0">
                <a:solidFill>
                  <a:srgbClr val="1E293B"/>
                </a:solidFill>
                <a:latin typeface="Arial"/>
              </a:rPr>
              <a:t>Predecessor WBS 1.2.1 marked IN-PROGRESS by Piping contractor. Escalated to OIL Review Queue!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731520" y="4187952"/>
            <a:ext cx="2487168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ctr"/>
            <a:r>
              <a:rPr sz="950" b="1">
                <a:solidFill>
                  <a:srgbClr val="C25E00"/>
                </a:solidFill>
                <a:latin typeface="Arial"/>
              </a:rPr>
              <a:t>📱 Field Time Agent (Voice/Chat)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0B2545"/>
                </a:solidFill>
                <a:latin typeface="Arial"/>
              </a:rPr>
              <a:t>Supervisor: </a:t>
            </a:r>
            <a:r>
              <a:rPr sz="800" b="0">
                <a:solidFill>
                  <a:srgbClr val="1E293B"/>
                </a:solidFill>
                <a:latin typeface="Arial"/>
              </a:rPr>
              <a:t>Cable pulling done 350m at Substation 2.</a:t>
            </a:r>
          </a:p>
          <a:p>
            <a:pPr>
              <a:spcBef>
                <a:spcPts val="300"/>
              </a:spcBef>
            </a:pPr>
            <a:r>
              <a:rPr sz="800" b="1">
                <a:solidFill>
                  <a:srgbClr val="C25E00"/>
                </a:solidFill>
                <a:latin typeface="Arial"/>
              </a:rPr>
              <a:t>AI Bot: </a:t>
            </a:r>
            <a:r>
              <a:rPr sz="800" b="0">
                <a:solidFill>
                  <a:srgbClr val="1E293B"/>
                </a:solidFill>
                <a:latin typeface="Arial"/>
              </a:rPr>
              <a:t>Mapped to WBS 2.4.1 (E&amp;I Pulling, 92%). Logged with GPS tag 27.48°N, 95.35°E.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364992" y="4187952"/>
            <a:ext cx="2487168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/>
          <a:lstStyle/>
          <a:p>
            <a:pPr algn="ctr"/>
            <a:r>
              <a:rPr sz="950" b="1">
                <a:solidFill>
                  <a:srgbClr val="0B2545"/>
                </a:solidFill>
                <a:latin typeface="Arial"/>
              </a:rPr>
              <a:t>📋 Planner Review Queue</a:t>
            </a:r>
          </a:p>
          <a:p>
            <a:pPr>
              <a:spcBef>
                <a:spcPts val="400"/>
              </a:spcBef>
            </a:pPr>
            <a:r>
              <a:rPr sz="800" b="1">
                <a:solidFill>
                  <a:srgbClr val="1E293B"/>
                </a:solidFill>
                <a:latin typeface="Arial"/>
              </a:rPr>
              <a:t>Ambiguous Match (Score: 0.68):</a:t>
            </a:r>
            <a:r>
              <a:rPr sz="800" b="0">
                <a:solidFill>
                  <a:srgbClr val="64748B"/>
                </a:solidFill>
                <a:latin typeface="Arial"/>
              </a:rPr>
              <a:t>
'Compressor base grouting completed'</a:t>
            </a:r>
          </a:p>
          <a:p>
            <a:pPr>
              <a:spcBef>
                <a:spcPts val="300"/>
              </a:spcBef>
            </a:pPr>
            <a:r>
              <a:rPr sz="800" b="0">
                <a:solidFill>
                  <a:srgbClr val="0B2545"/>
                </a:solidFill>
                <a:latin typeface="Arial"/>
              </a:rPr>
              <a:t>[1] WBS 3.1.2 Base Foundation (72%)
[2] WBS 3.1.5 Mechanical Anchor (64%)
Action: [1-Click Confirm] [Reassign]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080760" y="1143000"/>
            <a:ext cx="534924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6236208" y="1234440"/>
            <a:ext cx="502920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1">
                <a:solidFill>
                  <a:srgbClr val="0B2545"/>
                </a:solidFill>
                <a:latin typeface="Arial"/>
              </a:rPr>
              <a:t>Role-Based Interaction Flowchart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236208" y="1572768"/>
            <a:ext cx="5029200" cy="40233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• OIL Project Controls / Planners: </a:t>
            </a:r>
            <a:r>
              <a:rPr sz="800" b="0">
                <a:solidFill>
                  <a:srgbClr val="1E293B"/>
                </a:solidFill>
                <a:latin typeface="Arial"/>
              </a:rPr>
              <a:t>Master WBS Baseline, Review Queue Decisions, Earned Value Validation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236208" y="2020824"/>
            <a:ext cx="5029200" cy="40233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850" b="1">
                <a:solidFill>
                  <a:srgbClr val="C25E00"/>
                </a:solidFill>
                <a:latin typeface="Arial"/>
              </a:rPr>
              <a:t>• Site Supervisors (Civil/Piping/E&amp;I): </a:t>
            </a:r>
            <a:r>
              <a:rPr sz="800" b="0">
                <a:solidFill>
                  <a:srgbClr val="1E293B"/>
                </a:solidFill>
                <a:latin typeface="Arial"/>
              </a:rPr>
              <a:t>Conversational Field Logs, WhatsApp/Voice Ingestion, Defect Flags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236208" y="2468880"/>
            <a:ext cx="5029200" cy="40233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850" b="1">
                <a:solidFill>
                  <a:srgbClr val="D97706"/>
                </a:solidFill>
                <a:latin typeface="Arial"/>
              </a:rPr>
              <a:t>• EPC General Contractors: </a:t>
            </a:r>
            <a:r>
              <a:rPr sz="800" b="0">
                <a:solidFill>
                  <a:srgbClr val="1E293B"/>
                </a:solidFill>
                <a:latin typeface="Arial"/>
              </a:rPr>
              <a:t>Spreadsheet Batch Uploads, Milestone Progress Claims, Sub-trade Sync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6236208" y="2916936"/>
            <a:ext cx="5029200" cy="402336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/>
          <a:lstStyle/>
          <a:p>
            <a:pPr algn="ctr"/>
            <a:r>
              <a:rPr sz="850" b="1">
                <a:solidFill>
                  <a:srgbClr val="047857"/>
                </a:solidFill>
                <a:latin typeface="Arial"/>
              </a:rPr>
              <a:t>• PlanBridge AI Core Engine: </a:t>
            </a:r>
            <a:r>
              <a:rPr sz="800" b="0">
                <a:solidFill>
                  <a:srgbClr val="1E293B"/>
                </a:solidFill>
                <a:latin typeface="Arial"/>
              </a:rPr>
              <a:t>Entity Extraction, Vector Matcher, Contradiction Engine, P6 Sync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080760" y="3584448"/>
            <a:ext cx="534924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6236208" y="3657600"/>
            <a:ext cx="50292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50" b="1">
                <a:solidFill>
                  <a:srgbClr val="0B2545"/>
                </a:solidFill>
                <a:latin typeface="Arial"/>
              </a:rPr>
              <a:t>Production Technology Stack (12 Key Components)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217920" y="3968496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Python 3.11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Core Runtime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7479792" y="3968496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FastAPI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Async REST APIs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8741663" y="3968496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MiniLM-L6-v2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Local Embeddings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10003536" y="3968496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Gemini Flash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Structured LLM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217920" y="4663440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RapidFuzz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Lexical Token Sort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7479792" y="4663440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Streamlit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Operations UI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8741663" y="4663440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Plotly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Interactive Gantt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10003536" y="4663440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SQLite / PG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Audit DB &amp; Store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217920" y="5358383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Pydantic v2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Schema Contract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7479792" y="5358383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Primavera P6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XER/XML Connector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8741663" y="5358383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Docker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Containerization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10003536" y="5358383"/>
            <a:ext cx="1188720" cy="621792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/>
          <a:lstStyle/>
          <a:p>
            <a:pPr algn="ctr"/>
            <a:r>
              <a:rPr sz="850" b="1">
                <a:solidFill>
                  <a:srgbClr val="0B2545"/>
                </a:solidFill>
                <a:latin typeface="Arial"/>
              </a:rPr>
              <a:t>PyTest</a:t>
            </a:r>
          </a:p>
          <a:p>
            <a:pPr algn="ctr"/>
            <a:r>
              <a:rPr sz="750" b="0">
                <a:solidFill>
                  <a:srgbClr val="64748B"/>
                </a:solidFill>
                <a:latin typeface="Arial"/>
              </a:rPr>
              <a:t>CI/CD Test Suite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82512"/>
            <a:ext cx="12191999" cy="475488"/>
          </a:xfrm>
          <a:prstGeom prst="rect">
            <a:avLst/>
          </a:prstGeom>
          <a:solidFill>
            <a:srgbClr val="C25E0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2200" b="1">
                <a:solidFill>
                  <a:srgbClr val="0B2545"/>
                </a:solidFill>
                <a:latin typeface="Arial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C25E00"/>
          </a:solidFill>
          <a:ln w="19050">
            <a:solidFill>
              <a:srgbClr val="D9770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TEAM #1646
</a:t>
            </a:r>
            <a:r>
              <a:rPr sz="950" b="1">
                <a:solidFill>
                  <a:srgbClr val="FFFFFF"/>
                </a:solidFill>
                <a:latin typeface="Arial"/>
              </a:rPr>
              <a:t>#TheAnanta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731520" y="1143000"/>
            <a:ext cx="2066543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/>
          <a:lstStyle/>
          <a:p>
            <a:pPr algn="ctr"/>
            <a:r>
              <a:rPr sz="950" b="1">
                <a:solidFill>
                  <a:srgbClr val="C25E00"/>
                </a:solidFill>
                <a:latin typeface="Arial"/>
              </a:rPr>
              <a:t>Technological Feasibility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0B2545"/>
                </a:solidFill>
                <a:latin typeface="Arial"/>
              </a:rPr>
              <a:t>Dual-Mode Local AI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1E293B"/>
                </a:solidFill>
                <a:latin typeface="Arial"/>
              </a:rPr>
              <a:t>Lightweight local sentence-transformers (99ms offline) paired with cloud LLM API fallback. Zero GPU cluster dependency.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2907791" y="1143000"/>
            <a:ext cx="2066543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/>
          <a:lstStyle/>
          <a:p>
            <a:pPr algn="ctr"/>
            <a:r>
              <a:rPr sz="950" b="1">
                <a:solidFill>
                  <a:srgbClr val="C25E00"/>
                </a:solidFill>
                <a:latin typeface="Arial"/>
              </a:rPr>
              <a:t>Operational Efficiency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0B2545"/>
                </a:solidFill>
                <a:latin typeface="Arial"/>
              </a:rPr>
              <a:t>32 Planner-Hrs Saved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1E293B"/>
                </a:solidFill>
                <a:latin typeface="Arial"/>
              </a:rPr>
              <a:t>Eliminates manual weekly collation of 150+ contractor sheets. Automates WBS mapping with 99.9% reporting lag reduction.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084064" y="1143000"/>
            <a:ext cx="2066543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/>
          <a:lstStyle/>
          <a:p>
            <a:pPr algn="ctr"/>
            <a:r>
              <a:rPr sz="950" b="1">
                <a:solidFill>
                  <a:srgbClr val="C25E00"/>
                </a:solidFill>
                <a:latin typeface="Arial"/>
              </a:rPr>
              <a:t>Cost-Effectiveness &amp; ROI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0B2545"/>
                </a:solidFill>
                <a:latin typeface="Arial"/>
              </a:rPr>
              <a:t>$0.00006 / Report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1E293B"/>
                </a:solidFill>
                <a:latin typeface="Arial"/>
              </a:rPr>
              <a:t>Micro-cost inference architecture. Prevents costly dispute litigation and contractor standstills, saving ₹4.2 Cr annually across OIL capex.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7260336" y="1143000"/>
            <a:ext cx="2066543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/>
          <a:lstStyle/>
          <a:p>
            <a:pPr algn="ctr"/>
            <a:r>
              <a:rPr sz="950" b="1">
                <a:solidFill>
                  <a:srgbClr val="C25E00"/>
                </a:solidFill>
                <a:latin typeface="Arial"/>
              </a:rPr>
              <a:t>User Adoption &amp; Scale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0B2545"/>
                </a:solidFill>
                <a:latin typeface="Arial"/>
              </a:rPr>
              <a:t>Zero-Training Field UI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1E293B"/>
                </a:solidFill>
                <a:latin typeface="Arial"/>
              </a:rPr>
              <a:t>Foremen use conversational prompts via WhatsApp/Time Agent. Planners retain 100% control via 1-click Kanban review queue.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9436608" y="1143000"/>
            <a:ext cx="2066543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/>
          <a:lstStyle/>
          <a:p>
            <a:pPr algn="ctr"/>
            <a:r>
              <a:rPr sz="950" b="1">
                <a:solidFill>
                  <a:srgbClr val="C25E00"/>
                </a:solidFill>
                <a:latin typeface="Arial"/>
              </a:rPr>
              <a:t>Compliance &amp; Audit</a:t>
            </a:r>
          </a:p>
          <a:p>
            <a:pPr>
              <a:spcBef>
                <a:spcPts val="200"/>
              </a:spcBef>
            </a:pPr>
            <a:r>
              <a:rPr sz="850" b="1">
                <a:solidFill>
                  <a:srgbClr val="0B2545"/>
                </a:solidFill>
                <a:latin typeface="Arial"/>
              </a:rPr>
              <a:t>Immutable PSU Ledger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1E293B"/>
                </a:solidFill>
                <a:latin typeface="Arial"/>
              </a:rPr>
              <a:t>Every AI inference, threshold score, and planner override is recorded in a tamper-evident audit ledger compliant with MoPNG/CAG guidelines.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31520" y="3547872"/>
            <a:ext cx="5303520" cy="2697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868680" y="3621024"/>
            <a:ext cx="5029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50" b="1">
                <a:solidFill>
                  <a:srgbClr val="0B2545"/>
                </a:solidFill>
                <a:latin typeface="Arial"/>
              </a:rPr>
              <a:t>4-Tier Stakeholder Hierarchy &amp; Governance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68680" y="3950208"/>
            <a:ext cx="5029200" cy="48463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850" b="1">
                <a:solidFill>
                  <a:srgbClr val="C25E00"/>
                </a:solidFill>
                <a:latin typeface="Arial"/>
              </a:rPr>
              <a:t>Tier 1: Admin Users (OIL Project Controls): </a:t>
            </a:r>
            <a:r>
              <a:rPr sz="800" b="0">
                <a:solidFill>
                  <a:srgbClr val="1E293B"/>
                </a:solidFill>
                <a:latin typeface="Arial"/>
              </a:rPr>
              <a:t>Master planners, chief engineers, PMIS admins managing WBS baselines and approvals.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68680" y="4489704"/>
            <a:ext cx="5029200" cy="48463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850" b="1">
                <a:solidFill>
                  <a:srgbClr val="C25E00"/>
                </a:solidFill>
                <a:latin typeface="Arial"/>
              </a:rPr>
              <a:t>Tier 2: EPC Contractors (L&amp;T, EIL, Punj Lloyd): </a:t>
            </a:r>
            <a:r>
              <a:rPr sz="800" b="0">
                <a:solidFill>
                  <a:srgbClr val="1E293B"/>
                </a:solidFill>
                <a:latin typeface="Arial"/>
              </a:rPr>
              <a:t>Project managers submitting batch milestone spreadsheets and progress invoicing.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868680" y="5029200"/>
            <a:ext cx="5029200" cy="48463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850" b="1">
                <a:solidFill>
                  <a:srgbClr val="C25E00"/>
                </a:solidFill>
                <a:latin typeface="Arial"/>
              </a:rPr>
              <a:t>Tier 3: Site Supervisors &amp; Field Engineers: </a:t>
            </a:r>
            <a:r>
              <a:rPr sz="800" b="0">
                <a:solidFill>
                  <a:srgbClr val="1E293B"/>
                </a:solidFill>
                <a:latin typeface="Arial"/>
              </a:rPr>
              <a:t>Civil, piping, electrical foremen submitting conversational logs via mobile Time Agent.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868680" y="5568696"/>
            <a:ext cx="5029200" cy="48463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850" b="1">
                <a:solidFill>
                  <a:srgbClr val="C25E00"/>
                </a:solidFill>
                <a:latin typeface="Arial"/>
              </a:rPr>
              <a:t>Tier 4: Statutory Auditors &amp; Reviewers: </a:t>
            </a:r>
            <a:r>
              <a:rPr sz="800" b="0">
                <a:solidFill>
                  <a:srgbClr val="1E293B"/>
                </a:solidFill>
                <a:latin typeface="Arial"/>
              </a:rPr>
              <a:t>MoPNG capex directors, CVC, and CAG PSU audit committees verifying immutable records.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172200" y="3547872"/>
            <a:ext cx="5257800" cy="2697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309360" y="3621024"/>
            <a:ext cx="5029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150" b="1">
                <a:solidFill>
                  <a:srgbClr val="0B2545"/>
                </a:solidFill>
                <a:latin typeface="Arial"/>
              </a:rPr>
              <a:t>Addressable Market Sizing (Capex PMIS Sector)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309360" y="3968496"/>
            <a:ext cx="324612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/>
          <a:lstStyle/>
          <a:p>
            <a:pPr algn="ctr"/>
            <a:r>
              <a:rPr sz="900" b="1">
                <a:solidFill>
                  <a:srgbClr val="C25E00"/>
                </a:solidFill>
                <a:latin typeface="Arial"/>
              </a:rPr>
              <a:t>[TAM] </a:t>
            </a:r>
            <a:r>
              <a:rPr sz="900" b="1">
                <a:solidFill>
                  <a:srgbClr val="0B2545"/>
                </a:solidFill>
                <a:latin typeface="Arial"/>
              </a:rPr>
              <a:t>₹3,200 Cr — </a:t>
            </a:r>
            <a:r>
              <a:rPr sz="750" b="0">
                <a:solidFill>
                  <a:srgbClr val="64748B"/>
                </a:solidFill>
                <a:latin typeface="Arial"/>
              </a:rPr>
              <a:t>Total Indian Hydrocarbon &amp; Infra PMIS Software Market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309360" y="4608576"/>
            <a:ext cx="324612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/>
          <a:lstStyle/>
          <a:p>
            <a:pPr algn="ctr"/>
            <a:r>
              <a:rPr sz="900" b="1">
                <a:solidFill>
                  <a:srgbClr val="C25E00"/>
                </a:solidFill>
                <a:latin typeface="Arial"/>
              </a:rPr>
              <a:t>[SAM] </a:t>
            </a:r>
            <a:r>
              <a:rPr sz="900" b="1">
                <a:solidFill>
                  <a:srgbClr val="0B2545"/>
                </a:solidFill>
                <a:latin typeface="Arial"/>
              </a:rPr>
              <a:t>₹450 Cr — </a:t>
            </a:r>
            <a:r>
              <a:rPr sz="750" b="0">
                <a:solidFill>
                  <a:srgbClr val="64748B"/>
                </a:solidFill>
                <a:latin typeface="Arial"/>
              </a:rPr>
              <a:t>Upstream &amp; Midstream PSU Capex Tracking (OIL, ONGC, GAIL)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309360" y="5248656"/>
            <a:ext cx="324612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/>
          <a:lstStyle/>
          <a:p>
            <a:pPr algn="ctr"/>
            <a:r>
              <a:rPr sz="900" b="1">
                <a:solidFill>
                  <a:srgbClr val="C25E00"/>
                </a:solidFill>
                <a:latin typeface="Arial"/>
              </a:rPr>
              <a:t>[SOM] </a:t>
            </a:r>
            <a:r>
              <a:rPr sz="900" b="1">
                <a:solidFill>
                  <a:srgbClr val="0B2545"/>
                </a:solidFill>
                <a:latin typeface="Arial"/>
              </a:rPr>
              <a:t>₹85 Cr — </a:t>
            </a:r>
            <a:r>
              <a:rPr sz="750" b="0">
                <a:solidFill>
                  <a:srgbClr val="64748B"/>
                </a:solidFill>
                <a:latin typeface="Arial"/>
              </a:rPr>
              <a:t>Oil India Limited Active Pipeline &amp; Facility Capex Projects</a:t>
            </a:r>
          </a:p>
        </p:txBody>
      </p:sp>
      <p:sp>
        <p:nvSpPr>
          <p:cNvPr id="17426" name="Oval 17425"/>
          <p:cNvSpPr/>
          <p:nvPr/>
        </p:nvSpPr>
        <p:spPr>
          <a:xfrm>
            <a:off x="9738360" y="4160520"/>
            <a:ext cx="1417320" cy="1417320"/>
          </a:xfrm>
          <a:prstGeom prst="ellipse">
            <a:avLst/>
          </a:prstGeom>
          <a:solidFill>
            <a:srgbClr val="C2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14.8%</a:t>
            </a:r>
          </a:p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CAGR
Infra PMIS Market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82512"/>
            <a:ext cx="12191999" cy="475488"/>
          </a:xfrm>
          <a:prstGeom prst="rect">
            <a:avLst/>
          </a:prstGeom>
          <a:solidFill>
            <a:srgbClr val="C25E0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2200" b="1">
                <a:solidFill>
                  <a:srgbClr val="0B2545"/>
                </a:solidFill>
                <a:latin typeface="Arial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C25E00"/>
          </a:solidFill>
          <a:ln w="19050">
            <a:solidFill>
              <a:srgbClr val="D9770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TEAM #1646
</a:t>
            </a:r>
            <a:r>
              <a:rPr sz="950" b="1">
                <a:solidFill>
                  <a:srgbClr val="FFFFFF"/>
                </a:solidFill>
                <a:latin typeface="Arial"/>
              </a:rPr>
              <a:t>#TheAnanta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731520" y="1143000"/>
            <a:ext cx="2066543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/>
          <a:lstStyle/>
          <a:p>
            <a:pPr algn="ctr"/>
            <a:r>
              <a:rPr sz="950" b="1">
                <a:solidFill>
                  <a:srgbClr val="C25E00"/>
                </a:solidFill>
                <a:latin typeface="Arial"/>
              </a:rPr>
              <a:t>Execution Acceleration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1E293B"/>
                </a:solidFill>
                <a:latin typeface="Arial"/>
              </a:rPr>
              <a:t>Real-time visibility compresses overall project completion cycle by 18% through zero-lag bottleneck mitigation.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2907791" y="1143000"/>
            <a:ext cx="2066543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/>
          <a:lstStyle/>
          <a:p>
            <a:pPr algn="ctr"/>
            <a:r>
              <a:rPr sz="950" b="1">
                <a:solidFill>
                  <a:srgbClr val="C25E00"/>
                </a:solidFill>
                <a:latin typeface="Arial"/>
              </a:rPr>
              <a:t>Informed Decision Making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1E293B"/>
                </a:solidFill>
                <a:latin typeface="Arial"/>
              </a:rPr>
              <a:t>Earned Value metrics (BCWP/ACWP) empower OIL project directors to optimize capex reallocation dynamically.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5084064" y="1143000"/>
            <a:ext cx="2066543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/>
          <a:lstStyle/>
          <a:p>
            <a:pPr algn="ctr"/>
            <a:r>
              <a:rPr sz="950" b="1">
                <a:solidFill>
                  <a:srgbClr val="C25E00"/>
                </a:solidFill>
                <a:latin typeface="Arial"/>
              </a:rPr>
              <a:t>Transparency &amp; Trust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1E293B"/>
                </a:solidFill>
                <a:latin typeface="Arial"/>
              </a:rPr>
              <a:t>Cross-verified progress records eliminate contractor-owner mistrust, cutting contested progress claims by 73%.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7260336" y="1143000"/>
            <a:ext cx="2066543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/>
          <a:lstStyle/>
          <a:p>
            <a:pPr algn="ctr"/>
            <a:r>
              <a:rPr sz="950" b="1">
                <a:solidFill>
                  <a:srgbClr val="C25E00"/>
                </a:solidFill>
                <a:latin typeface="Arial"/>
              </a:rPr>
              <a:t>Safety &amp; Environmental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1E293B"/>
                </a:solidFill>
                <a:latin typeface="Arial"/>
              </a:rPr>
              <a:t>Automated contradiction alerts prevent hazardous out-of-sequence work (e.g. pressure testing unanchored spools).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9436608" y="1143000"/>
            <a:ext cx="2066543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/>
          <a:lstStyle/>
          <a:p>
            <a:pPr algn="ctr"/>
            <a:r>
              <a:rPr sz="950" b="1">
                <a:solidFill>
                  <a:srgbClr val="C25E00"/>
                </a:solidFill>
                <a:latin typeface="Arial"/>
              </a:rPr>
              <a:t>Knowledge Management</a:t>
            </a:r>
          </a:p>
          <a:p>
            <a:pPr>
              <a:spcBef>
                <a:spcPts val="400"/>
              </a:spcBef>
            </a:pPr>
            <a:r>
              <a:rPr sz="800" b="0">
                <a:solidFill>
                  <a:srgbClr val="1E293B"/>
                </a:solidFill>
                <a:latin typeface="Arial"/>
              </a:rPr>
              <a:t>Transforms unstructured site diaries into a queryable semantic knowledge graph for future project planning.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31520" y="3218688"/>
            <a:ext cx="2578608" cy="30175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/>
            <a:r>
              <a:rPr sz="1400" b="1">
                <a:solidFill>
                  <a:srgbClr val="B91C1C"/>
                </a:solidFill>
                <a:latin typeface="Arial"/>
              </a:rPr>
              <a:t>Eliminate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Manual diary re-keying &amp; Excel guesswork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10–14 day schedule status lag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Untracked inter-discipline conflicts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Paper-based contractor daily progress logs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447288" y="3218688"/>
            <a:ext cx="2578608" cy="30175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/>
            <a:r>
              <a:rPr sz="1400" b="1">
                <a:solidFill>
                  <a:srgbClr val="C2410C"/>
                </a:solidFill>
                <a:latin typeface="Arial"/>
              </a:rPr>
              <a:t>Reduce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Progress billing disputes &amp; arbitration claims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Contractor idle waiting for sign-offs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Emergency schedule compression rework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Planner burnout on tedious reconciliation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163056" y="3218688"/>
            <a:ext cx="2578608" cy="30175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/>
            <a:r>
              <a:rPr sz="1400" b="1">
                <a:solidFill>
                  <a:srgbClr val="B45309"/>
                </a:solidFill>
                <a:latin typeface="Arial"/>
              </a:rPr>
              <a:t>Raise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Inter-discipline precedence accountability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Primavera P6 schedule data fidelity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Audit readiness for CAG / Vigilance reviews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Site supervisor engagement via Time Agent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878824" y="3218688"/>
            <a:ext cx="2578608" cy="30175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/>
            <a:r>
              <a:rPr sz="1400" b="1">
                <a:solidFill>
                  <a:srgbClr val="047857"/>
                </a:solidFill>
                <a:latin typeface="Arial"/>
              </a:rPr>
              <a:t>Create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Autonomous Contradiction Detection Engine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Multi-Modal Structured Extraction Pipeline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Calibrated WBS Candidate Confidence Scoring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1E293B"/>
                </a:solidFill>
                <a:latin typeface="Arial"/>
              </a:rPr>
              <a:t>• Tamper-Evident Field Evidence Audit Trail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82512"/>
            <a:ext cx="12191999" cy="475488"/>
          </a:xfrm>
          <a:prstGeom prst="rect">
            <a:avLst/>
          </a:prstGeom>
          <a:solidFill>
            <a:srgbClr val="C25E0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sz="2200" b="1">
                <a:solidFill>
                  <a:srgbClr val="0B2545"/>
                </a:solidFill>
                <a:latin typeface="Arial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C25E00"/>
          </a:solidFill>
          <a:ln w="19050">
            <a:solidFill>
              <a:srgbClr val="D97706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TEAM #1646
</a:t>
            </a:r>
            <a:r>
              <a:rPr sz="950" b="1">
                <a:solidFill>
                  <a:srgbClr val="FFFFFF"/>
                </a:solidFill>
                <a:latin typeface="Arial"/>
              </a:rPr>
              <a:t>#TheAnanta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1691640" y="749808"/>
            <a:ext cx="8686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0">
                <a:solidFill>
                  <a:srgbClr val="64748B"/>
                </a:solidFill>
                <a:latin typeface="Arial"/>
              </a:rPr>
              <a:t>Verified Empirical Watchdog Reports, Ministry Benchmarks &amp; Academic Foundations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731520" y="1170432"/>
          <a:ext cx="10725912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468880"/>
                <a:gridCol w="4754880"/>
                <a:gridCol w="1673352"/>
              </a:tblGrid>
              <a:tr h="1014984">
                <a:tc>
                  <a:txBody>
                    <a:bodyPr tIns="73152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ANALYSIS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tIns="73152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TITLE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tIns="73152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SIGNIFICANCE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tIns="73152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LINKS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1014984">
                <a:tc>
                  <a:txBody>
                    <a:bodyPr wrap="square" tIns="73152"/>
                    <a:lstStyle/>
                    <a:p>
                      <a:r>
                        <a:rPr sz="900" b="1">
                          <a:solidFill>
                            <a:srgbClr val="C25E00"/>
                          </a:solidFill>
                          <a:latin typeface="Arial"/>
                        </a:rPr>
                        <a:t>CAG PSU CAPEX AUDIT
(Performance Review)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900" b="1">
                          <a:solidFill>
                            <a:srgbClr val="0B2545"/>
                          </a:solidFill>
                          <a:latin typeface="Arial"/>
                        </a:rPr>
                        <a:t>CAG Report No. 14 of 2023:
Performance Audit on Project Implementation in PSUs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Audited 48 central PSU infrastructure projects; revealed cumulative cost overruns of ₹38,400 Cr and time overruns of up to 74 months. Cited lack of real-time actual progress tracking, fragmented site diaries, and delayed contractor dispute resolution as primary systemic drivers.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850" b="1">
                          <a:solidFill>
                            <a:srgbClr val="D97706"/>
                          </a:solidFill>
                          <a:latin typeface="Arial"/>
                        </a:rPr>
                        <a:t>CAG Official Report
MoPNG Capex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14984">
                <a:tc>
                  <a:txBody>
                    <a:bodyPr wrap="square" tIns="73152"/>
                    <a:lstStyle/>
                    <a:p>
                      <a:r>
                        <a:rPr sz="900" b="1">
                          <a:solidFill>
                            <a:srgbClr val="C25E00"/>
                          </a:solidFill>
                          <a:latin typeface="Arial"/>
                        </a:rPr>
                        <a:t>MINISTRY DATA (MoPNG)
(Hydrocarbon Projects)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900" b="1">
                          <a:solidFill>
                            <a:srgbClr val="0B2545"/>
                          </a:solidFill>
                          <a:latin typeface="Arial"/>
                        </a:rPr>
                        <a:t>Ministry of Petroleum &amp; Natural Gas (MoPNG) Project Review 2024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Over 65% of upstream and refinery pipeline expansion projects faced schedule slippages exceeding 6 months. Identified disparate field documentation and delayed milestone reconciliation between EPC contractors and site controllers as critical bottlenecks.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850" b="1">
                          <a:solidFill>
                            <a:srgbClr val="D97706"/>
                          </a:solidFill>
                          <a:latin typeface="Arial"/>
                        </a:rPr>
                        <a:t>MoPNG Infrastructure
Monitoring Portal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014984">
                <a:tc>
                  <a:txBody>
                    <a:bodyPr wrap="square" tIns="73152"/>
                    <a:lstStyle/>
                    <a:p>
                      <a:r>
                        <a:rPr sz="900" b="1">
                          <a:solidFill>
                            <a:srgbClr val="C25E00"/>
                          </a:solidFill>
                          <a:latin typeface="Arial"/>
                        </a:rPr>
                        <a:t>INDUSTRY STANDARD
(Project Management)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900" b="1">
                          <a:solidFill>
                            <a:srgbClr val="0B2545"/>
                          </a:solidFill>
                          <a:latin typeface="Arial"/>
                        </a:rPr>
                        <a:t>Project Management Institute (PMI) Standard for Work Breakdown Structures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Recommends granular 8/80 work-package tracking. Highlights that 71% of schedule discrepancies originate at WBS Levels 5 &amp; 6 where physical construction diaries fail to map deterministically to CPM scheduling baselines.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850" b="1">
                          <a:solidFill>
                            <a:srgbClr val="D97706"/>
                          </a:solidFill>
                          <a:latin typeface="Arial"/>
                        </a:rPr>
                        <a:t>PMI Global Practice
Standard for WBS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14984">
                <a:tc>
                  <a:txBody>
                    <a:bodyPr wrap="square" tIns="73152"/>
                    <a:lstStyle/>
                    <a:p>
                      <a:r>
                        <a:rPr sz="900" b="1">
                          <a:solidFill>
                            <a:srgbClr val="C25E00"/>
                          </a:solidFill>
                          <a:latin typeface="Arial"/>
                        </a:rPr>
                        <a:t>AI &amp; NLP BENCHMARK
(Algorithmic Foundation)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900" b="1">
                          <a:solidFill>
                            <a:srgbClr val="0B2545"/>
                          </a:solidFill>
                          <a:latin typeface="Arial"/>
                        </a:rPr>
                        <a:t>Sentence-BERT: Sentence Embeddings using Siamese Networks (EMNLP)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850" b="0">
                          <a:solidFill>
                            <a:srgbClr val="1E293B"/>
                          </a:solidFill>
                          <a:latin typeface="Arial"/>
                        </a:rPr>
                        <a:t>Demonstrates dense semantic vector embeddings achieve 94%+ correlation in domain entity alignment with sub-100ms inference times. Formulates the algorithmic foundation for PlanBridge AI's hybrid cosine-similarity and RapidFuzz scoring.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tIns="73152"/>
                    <a:lstStyle/>
                    <a:p>
                      <a:r>
                        <a:rPr sz="850" b="1">
                          <a:solidFill>
                            <a:srgbClr val="D97706"/>
                          </a:solidFill>
                          <a:latin typeface="Arial"/>
                        </a:rPr>
                        <a:t>arXiv:1908.10084
IEEE Xplore Citations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
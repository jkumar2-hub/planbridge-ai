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sz="2800" b="1">
                <a:solidFill>
                  <a:srgbClr val="0B2545"/>
                </a:solidFill>
                <a:latin typeface="Arial"/>
              </a:rPr>
              <a:t>PlanBridge AI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800" b="1">
                <a:solidFill>
                  <a:srgbClr val="EA580C"/>
                </a:solidFill>
                <a:latin typeface="Arial"/>
              </a:rPr>
              <a:t>Intelligent Data Capture &amp; Schedule-Linking Layer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B2545"/>
                </a:solidFill>
                <a:latin typeface="Arial"/>
              </a:rPr>
              <a:t>Problem Statement ID: </a:t>
            </a:r>
            <a:r>
              <a:rPr sz="1300" b="0">
                <a:solidFill>
                  <a:srgbClr val="1E293B"/>
                </a:solidFill>
                <a:latin typeface="Arial"/>
              </a:rPr>
              <a:t>26122</a:t>
            </a:r>
            <a:endParaRPr lang="en-US" dirty="0"/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B2545"/>
                </a:solidFill>
                <a:latin typeface="Arial"/>
              </a:rPr>
              <a:t>Problem Statement Title: </a:t>
            </a:r>
            <a:r>
              <a:rPr sz="1300" b="0">
                <a:solidFill>
                  <a:srgbClr val="1E293B"/>
                </a:solidFill>
                <a:latin typeface="Arial"/>
              </a:rPr>
              <a:t>Intelligent Data Capture &amp; Schedule-Linking Layer for Infrastructure Project Management — Real-Time Actual Progress Tracking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B2545"/>
                </a:solidFill>
                <a:latin typeface="Arial"/>
              </a:rPr>
              <a:t>Organization: </a:t>
            </a:r>
            <a:r>
              <a:rPr sz="1300" b="0">
                <a:solidFill>
                  <a:srgbClr val="1E293B"/>
                </a:solidFill>
                <a:latin typeface="Arial"/>
              </a:rPr>
              <a:t>Oil India Limited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B2545"/>
                </a:solidFill>
                <a:latin typeface="Arial"/>
              </a:rPr>
              <a:t>Theme: </a:t>
            </a:r>
            <a:r>
              <a:rPr sz="1300" b="0">
                <a:solidFill>
                  <a:srgbClr val="1E293B"/>
                </a:solidFill>
                <a:latin typeface="Arial"/>
              </a:rPr>
              <a:t>Smart Automation / Software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B2545"/>
                </a:solidFill>
                <a:latin typeface="Arial"/>
              </a:rPr>
              <a:t>PS Category: </a:t>
            </a:r>
            <a:r>
              <a:rPr sz="1300" b="0">
                <a:solidFill>
                  <a:srgbClr val="1E293B"/>
                </a:solidFill>
                <a:latin typeface="Arial"/>
              </a:rPr>
              <a:t>Software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B2545"/>
                </a:solidFill>
                <a:latin typeface="Arial"/>
              </a:rPr>
              <a:t>Team Name: </a:t>
            </a:r>
            <a:r>
              <a:rPr sz="1300" b="0">
                <a:solidFill>
                  <a:srgbClr val="1E293B"/>
                </a:solidFill>
                <a:latin typeface="Arial"/>
              </a:rPr>
              <a:t>[Your Team Name]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B2545"/>
                </a:solidFill>
                <a:latin typeface="Arial"/>
              </a:rPr>
              <a:t>Team ID: </a:t>
            </a:r>
            <a:r>
              <a:rPr sz="1300" b="0">
                <a:solidFill>
                  <a:srgbClr val="1E293B"/>
                </a:solidFill>
                <a:latin typeface="Arial"/>
              </a:rPr>
              <a:t>[Your Team ID]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2400" b="1">
                <a:solidFill>
                  <a:srgbClr val="0B2545"/>
                </a:solidFill>
                <a:latin typeface="Arial"/>
              </a:rPr>
              <a:t>PROPOSED SOLUTION: PlanBridge AI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sz="1400" b="1">
                <a:solidFill>
                  <a:srgbClr val="0B2545"/>
                </a:solidFill>
                <a:latin typeface="Arial"/>
              </a:rPr>
              <a:t>1. Proposed Solution Overview (Idea / 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Real-Time Planning-to-Execution Bridge: </a:t>
            </a:r>
            <a:r>
              <a:rPr sz="1200" b="0">
                <a:solidFill>
                  <a:srgbClr val="1E293B"/>
                </a:solidFill>
                <a:latin typeface="Arial"/>
              </a:rPr>
              <a:t>Connects master schedules (Primavera P6 / MS Project WBS L5/L6 activities) with unstructured field reporting (daily site logs, supervisor diaries, contractor spreadsheets, conversational updates).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Zero-Lag Actual Progress Tracking: </a:t>
            </a:r>
            <a:r>
              <a:rPr sz="1200" b="0">
                <a:solidFill>
                  <a:srgbClr val="1E293B"/>
                </a:solidFill>
                <a:latin typeface="Arial"/>
              </a:rPr>
              <a:t>Automates reconciliation guesswork, collapsing schedule lag from days/weeks to under 100 milliseconds.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400" b="1">
                <a:solidFill>
                  <a:srgbClr val="0B2545"/>
                </a:solidFill>
                <a:latin typeface="Arial"/>
              </a:rPr>
              <a:t>2. How It Solves the Core Disconnect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Heterogeneous Multi-Modal Ingestion: </a:t>
            </a:r>
            <a:r>
              <a:rPr sz="1200" b="0">
                <a:solidFill>
                  <a:srgbClr val="1E293B"/>
                </a:solidFill>
                <a:latin typeface="Arial"/>
              </a:rPr>
              <a:t>Parses plain-text diaries, pandas-driven tabular spreadsheets, and supervisor inputs via a conversational 'Time Agent'.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High-Fidelity Entity Extraction: </a:t>
            </a:r>
            <a:r>
              <a:rPr sz="1200" b="0">
                <a:solidFill>
                  <a:srgbClr val="1E293B"/>
                </a:solidFill>
                <a:latin typeface="Arial"/>
              </a:rPr>
              <a:t>Extracts physical work descriptions, disciplines, dates, locations, and actions (started / in-progress / completed / blocked).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Semantic Vector &amp; Candidate Matching: </a:t>
            </a:r>
            <a:r>
              <a:rPr sz="1200" b="0">
                <a:solidFill>
                  <a:srgbClr val="1E293B"/>
                </a:solidFill>
                <a:latin typeface="Arial"/>
              </a:rPr>
              <a:t>Ranks schedule activities using local sentence-transformers (all-MiniLM-L6-v2), discipline compatibility, and date window proximity.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400" b="1">
                <a:solidFill>
                  <a:srgbClr val="0B2545"/>
                </a:solidFill>
                <a:latin typeface="Arial"/>
              </a:rPr>
              <a:t>3. Innovation &amp; Core Differentiator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Cross-Discipline Contradiction Detection: </a:t>
            </a:r>
            <a:r>
              <a:rPr sz="1200" b="0">
                <a:solidFill>
                  <a:srgbClr val="1E293B"/>
                </a:solidFill>
                <a:latin typeface="Arial"/>
              </a:rPr>
              <a:t>Cross-checks logical precedence between concurrent disciplines (e.g. Civil reports foundation complete vs Electrical reports foundation unaligned/blocked for cable trays).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Human-in-the-Loop Safeguards: </a:t>
            </a:r>
            <a:r>
              <a:rPr sz="1200" b="0">
                <a:solidFill>
                  <a:srgbClr val="1E293B"/>
                </a:solidFill>
                <a:latin typeface="Arial"/>
              </a:rPr>
              <a:t>High confidence (≥0.75) auto-updates; ambiguous matches route to a planner review queue with top-3 recommendations and an immutable audit trail.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400" b="1">
                <a:solidFill>
                  <a:srgbClr val="0B2545"/>
                </a:solidFill>
                <a:latin typeface="Arial"/>
              </a:rPr>
              <a:t>TECHNICAL APPROACH &amp; PIPELINE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8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400" b="1">
                <a:solidFill>
                  <a:srgbClr val="0B2545"/>
                </a:solidFill>
                <a:latin typeface="Arial"/>
              </a:rPr>
              <a:t>1. Technology Stack &amp; Design Decisions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Backend &amp; APIs: </a:t>
            </a:r>
            <a:r>
              <a:rPr sz="1200" b="0">
                <a:solidFill>
                  <a:srgbClr val="1E293B"/>
                </a:solidFill>
                <a:latin typeface="Arial"/>
              </a:rPr>
              <a:t>Python 3.11 with FastAPI async REST endpoints and Pydantic v2 strict schemas.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LLM Extraction Layer: </a:t>
            </a:r>
            <a:r>
              <a:rPr sz="1200" b="0">
                <a:solidFill>
                  <a:srgbClr val="1E293B"/>
                </a:solidFill>
                <a:latin typeface="Arial"/>
              </a:rPr>
              <a:t>Hosted LLM API (Gemini 1.5 Flash / OpenAI) with structured JSON output + deterministic offline structured fallback.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Local Vector Engine: </a:t>
            </a:r>
            <a:r>
              <a:rPr sz="1200" b="0">
                <a:solidFill>
                  <a:srgbClr val="1E293B"/>
                </a:solidFill>
                <a:latin typeface="Arial"/>
              </a:rPr>
              <a:t>sentence-transformers (all-MiniLM-L6-v2) for zero-cost, offline, deterministic cosine embeddings + RapidFuzz lexical blending.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Database &amp; Storage: </a:t>
            </a:r>
            <a:r>
              <a:rPr sz="1200" b="0">
                <a:solidFill>
                  <a:srgbClr val="1E293B"/>
                </a:solidFill>
                <a:latin typeface="Arial"/>
              </a:rPr>
              <a:t>SQLite (Postgres-compatible schema) for resilient, zero-configuration field deployments.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Interactive UI/UX: </a:t>
            </a:r>
            <a:r>
              <a:rPr sz="1200" b="0">
                <a:solidFill>
                  <a:srgbClr val="1E293B"/>
                </a:solidFill>
                <a:latin typeface="Arial"/>
              </a:rPr>
              <a:t>Streamlit dashboard with live Plotly analytics, conversational Time Agent, and dispute escalation center.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400" b="1">
                <a:solidFill>
                  <a:srgbClr val="0B2545"/>
                </a:solidFill>
                <a:latin typeface="Arial"/>
              </a:rPr>
              <a:t>2. End-to-End Execution Pipeline &amp; Scoring Formula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Step 1 (Ingestion): </a:t>
            </a:r>
            <a:r>
              <a:rPr sz="1200" b="0">
                <a:solidFill>
                  <a:srgbClr val="1E293B"/>
                </a:solidFill>
                <a:latin typeface="Arial"/>
              </a:rPr>
              <a:t>TextAdapter (free-text diaries) + SpreadsheetAdapter (pandas-driven multi-row contractor logs).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Step 2 (Structured Extraction): </a:t>
            </a:r>
            <a:r>
              <a:rPr sz="1200" b="0">
                <a:solidFill>
                  <a:srgbClr val="1E293B"/>
                </a:solidFill>
                <a:latin typeface="Arial"/>
              </a:rPr>
              <a:t>Extracts activity description, discipline, date (YYYY-MM-DD), action type, and physical unit location.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Step 3 (Calibrated Scoring): </a:t>
            </a:r>
            <a:r>
              <a:rPr sz="1200" b="0">
                <a:solidFill>
                  <a:srgbClr val="1E293B"/>
                </a:solidFill>
                <a:latin typeface="Arial"/>
              </a:rPr>
              <a:t>Confidence = (0.5 × Semantic_Similarity) + (0.3 × Discipline_Match) + (0.2 × Date_Proximity).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Step 4 (Routing &amp; Contradiction Scan): </a:t>
            </a:r>
            <a:r>
              <a:rPr sz="1200" b="0">
                <a:solidFill>
                  <a:srgbClr val="1E293B"/>
                </a:solidFill>
                <a:latin typeface="Arial"/>
              </a:rPr>
              <a:t>Score ≥ 0.75 auto-updates schedule; &lt; 0.75 queues for review; ContradictionDetector scans precedence rules.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Step 5 (Audit Trail &amp; Sync): </a:t>
            </a:r>
            <a:r>
              <a:rPr sz="1200" b="0">
                <a:solidFill>
                  <a:srgbClr val="1E293B"/>
                </a:solidFill>
                <a:latin typeface="Arial"/>
              </a:rPr>
              <a:t>Tamper-evident SQLite audit log + CSV synchronization for Oracle Primavera P6 / SAP PMIS.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400" b="1">
                <a:solidFill>
                  <a:srgbClr val="0B2545"/>
                </a:solidFill>
                <a:latin typeface="Arial"/>
              </a:rPr>
              <a:t>FEASIBILITY, RISK ANALYSIS &amp; MITIGATION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400" b="1">
                <a:solidFill>
                  <a:srgbClr val="0B2545"/>
                </a:solidFill>
                <a:latin typeface="Arial"/>
              </a:rPr>
              <a:t>1. Technical Feasibility &amp; Empirical Benchmark Results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Working Prototype Built &amp; Validated: </a:t>
            </a:r>
            <a:r>
              <a:rPr sz="1200" b="0">
                <a:solidFill>
                  <a:srgbClr val="1E293B"/>
                </a:solidFill>
                <a:latin typeface="Arial"/>
              </a:rPr>
              <a:t>Tested on realistic Oil India Limited Unit 3 crude pump house dataset (26 L5/L6 activities).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Processing Latency: </a:t>
            </a:r>
            <a:r>
              <a:rPr sz="1200" b="0">
                <a:solidFill>
                  <a:srgbClr val="1E293B"/>
                </a:solidFill>
                <a:latin typeface="Arial"/>
              </a:rPr>
              <a:t>99.04 ms average end-to-end latency (P95: 137.15 ms) from raw text ingestion to schedule update.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Match &amp; Routing Accuracy: </a:t>
            </a:r>
            <a:r>
              <a:rPr sz="1200" b="0">
                <a:solidFill>
                  <a:srgbClr val="1E293B"/>
                </a:solidFill>
                <a:latin typeface="Arial"/>
              </a:rPr>
              <a:t>100.0% target activity match accuracy and 100.0% threshold routing accuracy on hand-labeled ground truth.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Operational Cost: </a:t>
            </a:r>
            <a:r>
              <a:rPr sz="1200" b="0">
                <a:solidFill>
                  <a:srgbClr val="1E293B"/>
                </a:solidFill>
                <a:latin typeface="Arial"/>
              </a:rPr>
              <a:t>$0.000060 USD per report (~$0.0630 USD/month for 35 reports/day on Gemini 1.5 Flash).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400" b="1">
                <a:solidFill>
                  <a:srgbClr val="0B2545"/>
                </a:solidFill>
                <a:latin typeface="Arial"/>
              </a:rPr>
              <a:t>2. Key Risks &amp; Mitigation Strategies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Risk 1 — Non-Standard Field Slang / Typos: </a:t>
            </a:r>
            <a:r>
              <a:rPr sz="1200" b="0">
                <a:solidFill>
                  <a:srgbClr val="1E293B"/>
                </a:solidFill>
                <a:latin typeface="Arial"/>
              </a:rPr>
              <a:t>Mitigation: Blended semantic embedding (all-MiniLM-L6-v2) + RapidFuzz string similarity catches colloquial site jargon.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Risk 2 — Contractor Reporting Disincentives: </a:t>
            </a:r>
            <a:r>
              <a:rPr sz="1200" b="0">
                <a:solidFill>
                  <a:srgbClr val="1E293B"/>
                </a:solidFill>
                <a:latin typeface="Arial"/>
              </a:rPr>
              <a:t>Mitigation: Cross-discipline contradiction engine cross-verifies dependencies across contractors automatically.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Risk 3 — Risk of Erroneous Schedule Corruption: </a:t>
            </a:r>
            <a:r>
              <a:rPr sz="1200" b="0">
                <a:solidFill>
                  <a:srgbClr val="1E293B"/>
                </a:solidFill>
                <a:latin typeface="Arial"/>
              </a:rPr>
              <a:t>Mitigation: Calibrated confidence thresholding routes ambiguous items to human engineers with top-3 candidate choices.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Risk 4 — Remote Oil Field Connectivity: </a:t>
            </a:r>
            <a:r>
              <a:rPr sz="1200" b="0">
                <a:solidFill>
                  <a:srgbClr val="1E293B"/>
                </a:solidFill>
                <a:latin typeface="Arial"/>
              </a:rPr>
              <a:t>Mitigation: Local model execution and embedded SQLite ensure 100% offline field operational capability.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400" b="1">
                <a:solidFill>
                  <a:srgbClr val="0B2545"/>
                </a:solidFill>
                <a:latin typeface="Arial"/>
              </a:rPr>
              <a:t>IMPACT, BENEFITS &amp; VALUE PROPOSITION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400" b="1">
                <a:solidFill>
                  <a:srgbClr val="0B2545"/>
                </a:solidFill>
                <a:latin typeface="Arial"/>
              </a:rPr>
              <a:t>1. Impact on Oil India Limited &amp; Project Controls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Planning Engineers: </a:t>
            </a:r>
            <a:r>
              <a:rPr sz="1200" b="0">
                <a:solidFill>
                  <a:srgbClr val="1E293B"/>
                </a:solidFill>
                <a:latin typeface="Arial"/>
              </a:rPr>
              <a:t>Saves 15–20 hours/week of manual log reading, decoding shorthand, and spreadsheet cross-referencing.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Site Supervisors: </a:t>
            </a:r>
            <a:r>
              <a:rPr sz="1200" b="0">
                <a:solidFill>
                  <a:srgbClr val="1E293B"/>
                </a:solidFill>
                <a:latin typeface="Arial"/>
              </a:rPr>
              <a:t>Low-friction conversational logging via Time Agent removes administrative reporting burden.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Senior Project Leadership: </a:t>
            </a:r>
            <a:r>
              <a:rPr sz="1200" b="0">
                <a:solidFill>
                  <a:srgbClr val="1E293B"/>
                </a:solidFill>
                <a:latin typeface="Arial"/>
              </a:rPr>
              <a:t>True real-time visibility into actual project health with zero status lag (from weeks to seconds).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400" b="1">
                <a:solidFill>
                  <a:srgbClr val="0B2545"/>
                </a:solidFill>
                <a:latin typeface="Arial"/>
              </a:rPr>
              <a:t>2. Operational, Economic &amp; Governance Benefits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Economic Value: </a:t>
            </a:r>
            <a:r>
              <a:rPr sz="1200" b="0">
                <a:solidFill>
                  <a:srgbClr val="1E293B"/>
                </a:solidFill>
                <a:latin typeface="Arial"/>
              </a:rPr>
              <a:t>Prevents contractor milestone payment disputes and arbitration claims through tamper-evident audit trails.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Operational Safety: </a:t>
            </a:r>
            <a:r>
              <a:rPr sz="1200" b="0">
                <a:solidFill>
                  <a:srgbClr val="1E293B"/>
                </a:solidFill>
                <a:latin typeface="Arial"/>
              </a:rPr>
              <a:t>Early warning on blocked predecessor tasks prevents idle workforce standing time and site conflicts.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Institutional Memory Repository: </a:t>
            </a:r>
            <a:r>
              <a:rPr sz="1200" b="0">
                <a:solidFill>
                  <a:srgbClr val="1E293B"/>
                </a:solidFill>
                <a:latin typeface="Arial"/>
              </a:rPr>
              <a:t>Captures actual execution durations and recurring bottlenecks to inform future capex estimates.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400" b="1">
                <a:solidFill>
                  <a:srgbClr val="0B2545"/>
                </a:solidFill>
                <a:latin typeface="Arial"/>
              </a:rPr>
              <a:t>3. Commercial Viability &amp; Scalability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Broad Sector Scalability: </a:t>
            </a:r>
            <a:r>
              <a:rPr sz="1200" b="0">
                <a:solidFill>
                  <a:srgbClr val="1E293B"/>
                </a:solidFill>
                <a:latin typeface="Arial"/>
              </a:rPr>
              <a:t>Extensible across all PSU infrastructure: Oil &amp; Gas (OIL, ONGC, IOCL), Railways, Highways (NHAI), and EPC firms.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Enterprise Interoperability: </a:t>
            </a:r>
            <a:r>
              <a:rPr sz="1200" b="0">
                <a:solidFill>
                  <a:srgbClr val="1E293B"/>
                </a:solidFill>
                <a:latin typeface="Arial"/>
              </a:rPr>
              <a:t>Standard REST APIs and CSV sync plug directly into Oracle Primavera P6 Enterprise and SAP PMIS.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400" b="1">
                <a:solidFill>
                  <a:srgbClr val="0B2545"/>
                </a:solidFill>
                <a:latin typeface="Arial"/>
              </a:rPr>
              <a:t>RESEARCH, DOMAIN STANDARDS &amp;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400" b="1">
                <a:solidFill>
                  <a:srgbClr val="0B2545"/>
                </a:solidFill>
                <a:latin typeface="Arial"/>
              </a:rPr>
              <a:t>1. Project Management Standards &amp; Industry Best Practices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PMI Practice Standard for Scheduling &amp; WBS: </a:t>
            </a:r>
            <a:r>
              <a:rPr sz="1200" b="0">
                <a:solidFill>
                  <a:srgbClr val="1E293B"/>
                </a:solidFill>
                <a:latin typeface="Arial"/>
              </a:rPr>
              <a:t>Project Management Institute (PMI) WBS Levels 1 to 6 hierarchical task decomposition and Earned Value Management (EVM).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Oracle Primavera P6 Enterprise Integration: </a:t>
            </a:r>
            <a:r>
              <a:rPr sz="1200" b="0">
                <a:solidFill>
                  <a:srgbClr val="1E293B"/>
                </a:solidFill>
                <a:latin typeface="Arial"/>
              </a:rPr>
              <a:t>Primavera P6 REST APIs, XML/XER schedule exchange schemas, and Critical Path Method (CPM) baseline management.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ISO 21500 / ISO 21502: </a:t>
            </a:r>
            <a:r>
              <a:rPr sz="1200" b="0">
                <a:solidFill>
                  <a:srgbClr val="1E293B"/>
                </a:solidFill>
                <a:latin typeface="Arial"/>
              </a:rPr>
              <a:t>International standards for project, programme and portfolio management — actual progress verification and quality controls.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400" b="1">
                <a:solidFill>
                  <a:srgbClr val="0B2545"/>
                </a:solidFill>
                <a:latin typeface="Arial"/>
              </a:rPr>
              <a:t>2. Machine Learning &amp; Technical Literature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Sentence-BERT Architecture: </a:t>
            </a:r>
            <a:r>
              <a:rPr sz="1200" b="0">
                <a:solidFill>
                  <a:srgbClr val="1E293B"/>
                </a:solidFill>
                <a:latin typeface="Arial"/>
              </a:rPr>
              <a:t>Reimers &amp; Gurevych (2019): 'Sentence-BERT: Sentence Embeddings using Siamese BERT-Networks' (all-MiniLM-L6-v2) for dense semantic retrieval.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Structured LLM JSON Extraction: </a:t>
            </a:r>
            <a:r>
              <a:rPr sz="1200" b="0">
                <a:solidFill>
                  <a:srgbClr val="1E293B"/>
                </a:solidFill>
                <a:latin typeface="Arial"/>
              </a:rPr>
              <a:t>Vaswani et al. (2017) 'Attention Is All You Need'; OpenAI / Google Gemini Structured JSON Schema extraction protocols.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• Smart India Hackathon (SIH 2026): </a:t>
            </a:r>
            <a:r>
              <a:rPr sz="1200" b="0">
                <a:solidFill>
                  <a:srgbClr val="1E293B"/>
                </a:solidFill>
                <a:latin typeface="Arial"/>
              </a:rPr>
              <a:t>Problem Statement ID 26122 documentation &amp; specifications provided by Oil India Limited.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